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9144000" cy="16256000"/>
  <p:embeddedFontLst>
    <p:embeddedFont>
      <p:font typeface="Liter" panose="020B0604020202020204" charset="0"/>
      <p:regular r:id="rId15"/>
    </p:embeddedFont>
    <p:embeddedFont>
      <p:font typeface="Quattrocento Sans" panose="020B0502050000020003" pitchFamily="34" charset="0"/>
      <p:regular r:id="rId16"/>
      <p:bold r:id="rId17"/>
      <p: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5922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intro - I built a from-scratch pose controller for TurtleBot3 in ROS 2. The whole story is that it curves smoothly onto a commanded pose and stops on the mark — no Nav2.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functional ask is straightforward — a service that takes a target pose and drives there on odometry feedback. The interesting engineering constraint is continuous motion - it must curve, not rotate-drive-rotate, and land inside 5cm / 5deg.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maps the brief to the deck so the panel can see every required item is covered. The five explanation items live in this presentation; code, README and the demo recording ship with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packages - an interfaces package for the MoveToPose service, and the controller package. The loop is closed - odom in, cmd_vel out, on a 20Hz timer under a MultiThreadedExecutor so the service call can block until arrival without starving the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ROS conventions throughout — REP-103, right-handed, yaw positive CCW. Robot spawns at the odom origin and targets are interpreted in that same frame. I reduce the odom quaternion to a single yaw for the planar robot and wrap all angles to keep errors taking the short way 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error is described in polar form relative to the goal. Rho is distance. Alpha is the heading error — how much to turn to point at the goal. Beta is the extra turn so the final heading matches the requested yaw. Everything downstream is built from these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single continuous control law — the Siegwart polar pose controller. v and omega are non-zero together, so the robot curves onto the goal. cos(alpha) trims forward speed when misaligned and even allows a gentle reverse if the goal is behind. Then I saturate to platform limits and slew-rate limit so motion ramps smoothly.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gains aren't arbitrary — they satisfy the Lyapunov stability conditions from Siegwart. Tolerances are set inside spec for margin and held for several cycles before declaring success. Everything is a ROS parameter, so retuning never needs a recompile.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demo poses land inside tolerance — worst case about 3cm and just over a degree. Beyond the live runs, the control math has 11 unit tests, there's a headless kinematic sim for CI, and logging cmd_vel confirms v and omega fire together — no rotate-drive-rotate.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explicit about the operating envelope. This is pose control, not navigation — flat, obstacle-free, reliable odometry, one goal at a time. The differential-drive model means no lateral motion.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about the edges. No obstacle avoidance by scope. Open to odom drift — a real deployment would fuse with AMCL or an EKF for a map frame. It's proportional with a terminal P on yaw — could add an integral term. And a dedicated reverse mode would beat the gentle cos-alpha reverse for goals behind the robot.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one-line takeaway - it curves onto the goal and stops on the mark. Continuous polar control, correct error computation, clean parameterised ROS 2 structure, tested, hitting tolerance on all three poses — all from first principles, no Nav2. Happy to walk through any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6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12800" y="406400"/>
            <a:ext cx="1016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kern="0" spc="3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ROBOTICS SOFTWARE ENGINEER · TECHNICAL ASSESSMENT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12800" y="2794000"/>
            <a:ext cx="9525000" cy="190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lang="en-US" sz="5600" b="1" dirty="0">
                <a:solidFill>
                  <a:srgbClr val="F3EE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TurtleBot3</a:t>
            </a:r>
            <a:endParaRPr lang="en-US" sz="5600" dirty="0"/>
          </a:p>
          <a:p>
            <a:pPr algn="l">
              <a:lnSpc>
                <a:spcPct val="105000"/>
              </a:lnSpc>
            </a:pPr>
            <a:r>
              <a:rPr lang="en-US" sz="5600" b="1" dirty="0">
                <a:solidFill>
                  <a:srgbClr val="E874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Pose Controller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812800" y="4953000"/>
            <a:ext cx="762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CFC7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continuous closed-loop controller in ROS 2 (Python) that drives the robot to a commanded </a:t>
            </a:r>
            <a:r>
              <a:rPr lang="en-US" sz="2000" dirty="0">
                <a:solidFill>
                  <a:srgbClr val="F3EE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(x, y, yaw)</a:t>
            </a:r>
            <a:r>
              <a:rPr lang="en-US" sz="2000" dirty="0">
                <a:solidFill>
                  <a:srgbClr val="CFC7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and curves onto it instead of stopping and turning.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12800" y="8128000"/>
            <a:ext cx="508000" cy="25400"/>
          </a:xfrm>
          <a:prstGeom prst="rect">
            <a:avLst/>
          </a:prstGeom>
          <a:solidFill>
            <a:srgbClr val="E8744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1524000" y="80518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B7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ROS 2 · Python · differential drive · no Nav2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1049000" y="7112000"/>
            <a:ext cx="3556000" cy="0"/>
          </a:xfrm>
          <a:prstGeom prst="straightConnector1">
            <a:avLst/>
          </a:prstGeom>
          <a:noFill/>
          <a:ln w="12700">
            <a:solidFill>
              <a:srgbClr val="39322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11557000" y="3556000"/>
            <a:ext cx="0" cy="3556000"/>
          </a:xfrm>
          <a:prstGeom prst="straightConnector1">
            <a:avLst/>
          </a:prstGeom>
          <a:noFill/>
          <a:ln w="12700">
            <a:solidFill>
              <a:srgbClr val="39322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11557000" y="6858000"/>
            <a:ext cx="3302000" cy="2032000"/>
          </a:xfrm>
          <a:custGeom>
            <a:avLst/>
            <a:gdLst/>
            <a:ahLst/>
            <a:cxnLst/>
            <a:rect l="l" t="t" r="r" b="b"/>
            <a:pathLst>
              <a:path w="3302000" h="2032000">
                <a:moveTo>
                  <a:pt x="0" y="1778000"/>
                </a:moveTo>
                <a:quadBezTo>
                  <a:pt x="1397000" y="1905000"/>
                  <a:pt x="2540000" y="127000"/>
                </a:quadBezTo>
              </a:path>
            </a:pathLst>
          </a:custGeom>
          <a:noFill/>
          <a:ln w="12700">
            <a:solidFill>
              <a:srgbClr val="E874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11455400" y="6959600"/>
            <a:ext cx="177800" cy="177800"/>
          </a:xfrm>
          <a:prstGeom prst="ellipse">
            <a:avLst/>
          </a:prstGeom>
          <a:solidFill>
            <a:srgbClr val="8B7E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11633200" y="7035800"/>
            <a:ext cx="381000" cy="0"/>
          </a:xfrm>
          <a:prstGeom prst="straightConnector1">
            <a:avLst/>
          </a:prstGeom>
          <a:noFill/>
          <a:ln w="25400">
            <a:solidFill>
              <a:srgbClr val="8B7E73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13919200" y="4927600"/>
            <a:ext cx="279400" cy="279400"/>
          </a:xfrm>
          <a:prstGeom prst="ellipse">
            <a:avLst/>
          </a:prstGeom>
          <a:noFill/>
          <a:ln w="12700">
            <a:solidFill>
              <a:srgbClr val="E874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14008100" y="5016500"/>
            <a:ext cx="101600" cy="101600"/>
          </a:xfrm>
          <a:prstGeom prst="ellipse">
            <a:avLst/>
          </a:prstGeom>
          <a:solidFill>
            <a:srgbClr val="E8744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14058900" y="4699000"/>
            <a:ext cx="0" cy="304800"/>
          </a:xfrm>
          <a:prstGeom prst="straightConnector1">
            <a:avLst/>
          </a:prstGeom>
          <a:noFill/>
          <a:ln w="25400">
            <a:solidFill>
              <a:srgbClr val="E8744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12800" y="4572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kern="0" spc="3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 / THE TASK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12800" y="787400"/>
            <a:ext cx="889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3600" b="1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Reach a commanded pose — smoothly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462000" y="508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8B7E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Pose Controller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12800" y="1498600"/>
            <a:ext cx="14630400" cy="0"/>
          </a:xfrm>
          <a:prstGeom prst="straightConnector1">
            <a:avLst/>
          </a:prstGeom>
          <a:noFill/>
          <a:ln w="12700">
            <a:solidFill>
              <a:srgbClr val="E6DF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812800" y="1778000"/>
            <a:ext cx="7874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ROS 2 service accepts a target </a:t>
            </a:r>
            <a:r>
              <a:rPr lang="en-US" sz="2000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x, y, yaw</a:t>
            </a:r>
            <a:r>
              <a:rPr lang="en-US" sz="20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drives the robot there using odometry feedback, publishing velocities on </a:t>
            </a:r>
            <a:r>
              <a:rPr lang="en-US" sz="2000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/cmd_vel</a:t>
            </a:r>
            <a:r>
              <a:rPr lang="en-US" sz="20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2000" dirty="0"/>
          </a:p>
          <a:p>
            <a:pPr algn="l">
              <a:lnSpc>
                <a:spcPct val="15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r>
              <a:rPr lang="en-US" sz="20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Closed loop on odometry — the controller always works from where the robot actually is.</a:t>
            </a:r>
            <a:endParaRPr lang="en-US" sz="20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r>
              <a:rPr lang="en-US" sz="20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Control law written from first principles — </a:t>
            </a:r>
            <a:r>
              <a:rPr lang="en-US" sz="2000" b="1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Nav2</a:t>
            </a:r>
            <a:r>
              <a:rPr lang="en-US" sz="20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high-level planning stack.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9144000" y="1778000"/>
            <a:ext cx="6299200" cy="5334000"/>
          </a:xfrm>
          <a:prstGeom prst="roundRect">
            <a:avLst>
              <a:gd name="adj" fmla="val 8000"/>
            </a:avLst>
          </a:prstGeom>
          <a:solidFill>
            <a:srgbClr val="FBEEE7"/>
          </a:solidFill>
          <a:ln w="12700">
            <a:solidFill>
              <a:srgbClr val="F0C9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9499600" y="2082800"/>
            <a:ext cx="558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kern="0" spc="3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CONSTRAINT THAT SHAPES EVERYTHING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499600" y="24892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motion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9499600" y="3098800"/>
            <a:ext cx="558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Drive and rotate at the same time — a single smooth curve onto the goal. No discrete </a:t>
            </a:r>
            <a:r>
              <a:rPr lang="en-US" sz="1800" i="1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rotate → drive → rotate</a:t>
            </a:r>
            <a:r>
              <a:rPr lang="en-US" sz="18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9499600" y="4318000"/>
            <a:ext cx="2667000" cy="101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9499600" y="4419600"/>
            <a:ext cx="2667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000" b="1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±5 cm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9499600" y="4953000"/>
            <a:ext cx="266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8B7E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position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2420600" y="4318000"/>
            <a:ext cx="2667000" cy="101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12420600" y="4419600"/>
            <a:ext cx="2667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000" b="1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±5°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12420600" y="4953000"/>
            <a:ext cx="266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8B7E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orientation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12800" y="4572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kern="0" spc="3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/ SCOPE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12800" y="787400"/>
            <a:ext cx="889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3600" b="1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Deliverables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462000" y="508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8B7E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Pose Controller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12800" y="1498600"/>
            <a:ext cx="14630400" cy="0"/>
          </a:xfrm>
          <a:prstGeom prst="straightConnector1">
            <a:avLst/>
          </a:prstGeom>
          <a:noFill/>
          <a:ln w="12700">
            <a:solidFill>
              <a:srgbClr val="E6DF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812800" y="17018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kern="0" spc="300" dirty="0">
                <a:solidFill>
                  <a:srgbClr val="8B7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EXPLANATION — COVERED IN THIS DECK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2800" y="2159000"/>
            <a:ext cx="812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18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Control approach </a:t>
            </a:r>
            <a:r>
              <a:rPr lang="en-US" sz="1300" dirty="0">
                <a:solidFill>
                  <a:srgbClr val="B071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slides 05–07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12800" y="2667000"/>
            <a:ext cx="8128000" cy="0"/>
          </a:xfrm>
          <a:prstGeom prst="straightConnector1">
            <a:avLst/>
          </a:prstGeom>
          <a:noFill/>
          <a:ln w="12700">
            <a:solidFill>
              <a:srgbClr val="EAE3D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812800" y="2794000"/>
            <a:ext cx="812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18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How pose errors are computed </a:t>
            </a:r>
            <a:r>
              <a:rPr lang="en-US" sz="1300" dirty="0">
                <a:solidFill>
                  <a:srgbClr val="B071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slide 05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12800" y="3302000"/>
            <a:ext cx="8128000" cy="0"/>
          </a:xfrm>
          <a:prstGeom prst="straightConnector1">
            <a:avLst/>
          </a:prstGeom>
          <a:noFill/>
          <a:ln w="12700">
            <a:solidFill>
              <a:srgbClr val="EAE3D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812800" y="3429000"/>
            <a:ext cx="812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18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How velocity commands are generated </a:t>
            </a:r>
            <a:r>
              <a:rPr lang="en-US" sz="1300" dirty="0">
                <a:solidFill>
                  <a:srgbClr val="B071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slide 06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12800" y="3937000"/>
            <a:ext cx="8128000" cy="0"/>
          </a:xfrm>
          <a:prstGeom prst="straightConnector1">
            <a:avLst/>
          </a:prstGeom>
          <a:noFill/>
          <a:ln w="12700">
            <a:solidFill>
              <a:srgbClr val="EAE3D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812800" y="4064000"/>
            <a:ext cx="812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18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Assumptions made </a:t>
            </a:r>
            <a:r>
              <a:rPr lang="en-US" sz="1300" dirty="0">
                <a:solidFill>
                  <a:srgbClr val="B071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slide 09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12800" y="4572000"/>
            <a:ext cx="8128000" cy="0"/>
          </a:xfrm>
          <a:prstGeom prst="straightConnector1">
            <a:avLst/>
          </a:prstGeom>
          <a:noFill/>
          <a:ln w="12700">
            <a:solidFill>
              <a:srgbClr val="EAE3D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812800" y="4699000"/>
            <a:ext cx="812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18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Known limitations </a:t>
            </a:r>
            <a:r>
              <a:rPr lang="en-US" sz="1300" dirty="0">
                <a:solidFill>
                  <a:srgbClr val="B071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slide 10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9398000" y="1701800"/>
            <a:ext cx="6045200" cy="4318000"/>
          </a:xfrm>
          <a:prstGeom prst="roundRect">
            <a:avLst>
              <a:gd name="adj" fmla="val 8000"/>
            </a:avLst>
          </a:prstGeom>
          <a:solidFill>
            <a:srgbClr val="F3EE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9753600" y="2006600"/>
            <a:ext cx="533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kern="0" spc="300" dirty="0">
                <a:solidFill>
                  <a:srgbClr val="8B7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SUBMITTED WITH THE REPOSITORY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753600" y="2489200"/>
            <a:ext cx="533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 code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9753600" y="2870200"/>
            <a:ext cx="533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F66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 repo — ROS 2 workspace, </a:t>
            </a:r>
            <a:r>
              <a:rPr lang="en-US" sz="1600" dirty="0">
                <a:solidFill>
                  <a:srgbClr val="6F66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pose_controller</a:t>
            </a:r>
            <a:r>
              <a:rPr lang="en-US" sz="1600" dirty="0">
                <a:solidFill>
                  <a:srgbClr val="6F66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package, all sources.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753600" y="3632200"/>
            <a:ext cx="533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README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753600" y="4013200"/>
            <a:ext cx="533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F66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Install deps · run the sim · start the node · call the service.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753600" y="4775200"/>
            <a:ext cx="533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Demonstration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9753600" y="5156200"/>
            <a:ext cx="533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F66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Screen recording of three target poses (results on slide 08).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12800" y="4572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kern="0" spc="3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/ ARCHITECTURE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12800" y="787400"/>
            <a:ext cx="889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3600" b="1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Feedback loop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462000" y="508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8B7E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Pose Controller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12800" y="1498600"/>
            <a:ext cx="14630400" cy="0"/>
          </a:xfrm>
          <a:prstGeom prst="straightConnector1">
            <a:avLst/>
          </a:prstGeom>
          <a:noFill/>
          <a:ln w="12700">
            <a:solidFill>
              <a:srgbClr val="E6DF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1016000" y="2794000"/>
            <a:ext cx="20320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C6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016000" y="3048000"/>
            <a:ext cx="203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16000" y="3403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8B7E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 caller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048000" y="3238500"/>
            <a:ext cx="2032000" cy="0"/>
          </a:xfrm>
          <a:prstGeom prst="straightConnector1">
            <a:avLst/>
          </a:prstGeom>
          <a:noFill/>
          <a:ln w="25400">
            <a:solidFill>
              <a:srgbClr val="221F1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3175000" y="2946400"/>
            <a:ext cx="177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/move_to_pose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048000" y="3683000"/>
            <a:ext cx="2032000" cy="0"/>
          </a:xfrm>
          <a:prstGeom prst="straightConnector1">
            <a:avLst/>
          </a:prstGeom>
          <a:noFill/>
          <a:ln w="12700">
            <a:solidFill>
              <a:srgbClr val="8B7E73"/>
            </a:solidFill>
            <a:prstDash val="dash"/>
            <a:headEnd type="arrow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3175000" y="3759200"/>
            <a:ext cx="177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8B7E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returns on arrival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80000" y="2286000"/>
            <a:ext cx="3556000" cy="2286000"/>
          </a:xfrm>
          <a:prstGeom prst="roundRect">
            <a:avLst>
              <a:gd name="adj" fmla="val 8000"/>
            </a:avLst>
          </a:prstGeom>
          <a:solidFill>
            <a:srgbClr val="FBEEE7"/>
          </a:solidFill>
          <a:ln w="12700">
            <a:solidFill>
              <a:srgbClr val="D854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5080000" y="24384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pose_controller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283200" y="2870200"/>
            <a:ext cx="314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D854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400" dirty="0">
                <a:solidFill>
                  <a:srgbClr val="3D38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20 Hz control loop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283200" y="3175000"/>
            <a:ext cx="314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D854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400" dirty="0">
                <a:solidFill>
                  <a:srgbClr val="3D38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MultiThreadedExecutor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283200" y="3479800"/>
            <a:ext cx="314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D854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400" dirty="0">
                <a:solidFill>
                  <a:srgbClr val="3D38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polar control law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283200" y="3784600"/>
            <a:ext cx="314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D854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400" dirty="0">
                <a:solidFill>
                  <a:srgbClr val="3D38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saturation + slew limit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636000" y="3238500"/>
            <a:ext cx="2032000" cy="0"/>
          </a:xfrm>
          <a:prstGeom prst="straightConnector1">
            <a:avLst/>
          </a:prstGeom>
          <a:noFill/>
          <a:ln w="25400">
            <a:solidFill>
              <a:srgbClr val="221F1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8890000" y="29464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/cmd_vel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763000" y="3759200"/>
            <a:ext cx="177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8B7E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geometry_msgs/Twist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0668000" y="2794000"/>
            <a:ext cx="20320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C6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10668000" y="3048000"/>
            <a:ext cx="203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TurtleBot3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0668000" y="3403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8B7E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Gazebo Harmonic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11684000" y="1651000"/>
            <a:ext cx="0" cy="1143000"/>
          </a:xfrm>
          <a:prstGeom prst="straightConnector1">
            <a:avLst/>
          </a:prstGeom>
          <a:noFill/>
          <a:ln w="25400">
            <a:solidFill>
              <a:srgbClr val="D8542A"/>
            </a:solidFill>
            <a:prstDash val="solid"/>
            <a:headEnd type="arrow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>
            <a:off x="8636000" y="1651000"/>
            <a:ext cx="3048000" cy="0"/>
          </a:xfrm>
          <a:prstGeom prst="straightConnector1">
            <a:avLst/>
          </a:prstGeom>
          <a:noFill/>
          <a:ln w="25400">
            <a:solidFill>
              <a:srgbClr val="D8542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8636000" y="1651000"/>
            <a:ext cx="0" cy="635000"/>
          </a:xfrm>
          <a:prstGeom prst="straightConnector1">
            <a:avLst/>
          </a:prstGeom>
          <a:noFill/>
          <a:ln w="25400">
            <a:solidFill>
              <a:srgbClr val="D8542A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9144000" y="16764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/odom · nav_msgs/Odometry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12800" y="5334000"/>
            <a:ext cx="711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pkg ·</a:t>
            </a:r>
            <a:r>
              <a:rPr lang="en-US" sz="1600" dirty="0">
                <a:solidFill>
                  <a:srgbClr val="5A52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pose_controller_interfaces </a:t>
            </a:r>
            <a:r>
              <a:rPr lang="en-US" sz="1600" dirty="0">
                <a:solidFill>
                  <a:srgbClr val="9A918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(ament_cmake) — MoveToPose.srv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8128000" y="5334000"/>
            <a:ext cx="736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pkg ·</a:t>
            </a:r>
            <a:r>
              <a:rPr lang="en-US" sz="1600" dirty="0">
                <a:solidFill>
                  <a:srgbClr val="5A52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pose_controller </a:t>
            </a:r>
            <a:r>
              <a:rPr lang="en-US" sz="1600" dirty="0">
                <a:solidFill>
                  <a:srgbClr val="9A918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(ament_python) — node · math · launch · tests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12800" y="4572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kern="0" spc="3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 / FRAMES &amp; CONVENTIONS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12800" y="787400"/>
            <a:ext cx="889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3600" b="1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ROS logic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462000" y="508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8B7E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Pose Controller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12800" y="1498600"/>
            <a:ext cx="14630400" cy="0"/>
          </a:xfrm>
          <a:prstGeom prst="straightConnector1">
            <a:avLst/>
          </a:prstGeom>
          <a:noFill/>
          <a:ln w="12700">
            <a:solidFill>
              <a:srgbClr val="E6DF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2032000" y="4826000"/>
            <a:ext cx="127000" cy="127000"/>
          </a:xfrm>
          <a:prstGeom prst="ellipse">
            <a:avLst/>
          </a:prstGeom>
          <a:solidFill>
            <a:srgbClr val="221F1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2159000" y="4876800"/>
            <a:ext cx="1524000" cy="0"/>
          </a:xfrm>
          <a:prstGeom prst="straightConnector1">
            <a:avLst/>
          </a:prstGeom>
          <a:noFill/>
          <a:ln w="25400">
            <a:solidFill>
              <a:srgbClr val="D8542A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3733800" y="4572000"/>
            <a:ext cx="4572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759200" y="50038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B080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forward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016000" y="3810000"/>
            <a:ext cx="0" cy="1016000"/>
          </a:xfrm>
          <a:prstGeom prst="straightConnector1">
            <a:avLst/>
          </a:prstGeom>
          <a:noFill/>
          <a:ln w="25400">
            <a:solidFill>
              <a:srgbClr val="221F1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558800" y="3327400"/>
            <a:ext cx="4572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54000" y="37592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8B7E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left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032000" y="3302000"/>
            <a:ext cx="0" cy="1524000"/>
          </a:xfrm>
          <a:prstGeom prst="straightConnector1">
            <a:avLst/>
          </a:prstGeom>
          <a:noFill/>
          <a:ln w="25400">
            <a:solidFill>
              <a:srgbClr val="221F1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2032000" y="2895600"/>
            <a:ext cx="4572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184400" y="3327400"/>
            <a:ext cx="50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8B7E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286000" y="3556000"/>
            <a:ext cx="762000" cy="762000"/>
          </a:xfrm>
          <a:prstGeom prst="arc">
            <a:avLst>
              <a:gd name="adj1" fmla="val 0"/>
              <a:gd name="adj2" fmla="val 6480000"/>
            </a:avLst>
          </a:prstGeom>
          <a:noFill/>
          <a:ln w="12700">
            <a:solidFill>
              <a:srgbClr val="D854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3098800" y="355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yaw +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12800" y="5588000"/>
            <a:ext cx="355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8B7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REP-103 · right-handed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80000" y="1905000"/>
            <a:ext cx="1028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9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</a:t>
            </a:r>
            <a:r>
              <a:rPr lang="en-US" sz="19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Robot spawns at the </a:t>
            </a:r>
            <a:r>
              <a:rPr lang="en-US" sz="1900" b="1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odom origin</a:t>
            </a:r>
            <a:r>
              <a:rPr lang="en-US" sz="19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</a:t>
            </a:r>
            <a:r>
              <a:rPr lang="en-US" sz="1700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 = 0, y = 0, yaw = 0</a:t>
            </a:r>
            <a:r>
              <a:rPr lang="en-US" sz="19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target pose is interpreted in that same frame.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5080000" y="2921000"/>
            <a:ext cx="1028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9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</a:t>
            </a:r>
            <a:r>
              <a:rPr lang="en-US" sz="19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Yaw is positive </a:t>
            </a:r>
            <a:r>
              <a:rPr lang="en-US" sz="1900" b="1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counter-clockwise</a:t>
            </a:r>
            <a:r>
              <a:rPr lang="en-US" sz="19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about </a:t>
            </a:r>
            <a:r>
              <a:rPr lang="en-US" sz="1700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+z</a:t>
            </a:r>
            <a:r>
              <a:rPr lang="en-US" sz="19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5080000" y="3683000"/>
            <a:ext cx="1028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9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</a:t>
            </a:r>
            <a:r>
              <a:rPr lang="en-US" sz="19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Odometry orientation is a quaternion → </a:t>
            </a:r>
            <a:r>
              <a:rPr lang="en-US" sz="1900" b="1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to a single yaw</a:t>
            </a:r>
            <a:r>
              <a:rPr lang="en-US" sz="19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the planar robot.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5080000" y="4724400"/>
            <a:ext cx="1028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9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</a:t>
            </a:r>
            <a:r>
              <a:rPr lang="en-US" sz="19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All angles wrapped to </a:t>
            </a:r>
            <a:r>
              <a:rPr lang="en-US" sz="1700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(−π, π]</a:t>
            </a:r>
            <a:r>
              <a:rPr lang="en-US" sz="19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 errors never take the long way around ±180°.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5080000" y="5765800"/>
            <a:ext cx="1028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9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</a:t>
            </a:r>
            <a:r>
              <a:rPr lang="en-US" sz="19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r>
              <a:rPr lang="en-US" sz="1900" b="1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Differential-drive (unicycle) model:</a:t>
            </a:r>
            <a:r>
              <a:rPr lang="en-US" sz="19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only forward velocity </a:t>
            </a:r>
            <a:r>
              <a:rPr lang="en-US" sz="1700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</a:t>
            </a:r>
            <a:r>
              <a:rPr lang="en-US" sz="19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turn rate </a:t>
            </a:r>
            <a:r>
              <a:rPr lang="en-US" sz="1700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ω</a:t>
            </a:r>
            <a:r>
              <a:rPr lang="en-US" sz="19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commandable — no sideways motion.</a:t>
            </a:r>
            <a:endParaRPr lang="en-US" sz="19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12800" y="4572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kern="0" spc="3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 / POSE ERRORS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12800" y="787400"/>
            <a:ext cx="1016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3600" b="1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calculation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462000" y="508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8B7E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Pose Controller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12800" y="1498600"/>
            <a:ext cx="14630400" cy="0"/>
          </a:xfrm>
          <a:prstGeom prst="straightConnector1">
            <a:avLst/>
          </a:prstGeom>
          <a:noFill/>
          <a:ln w="12700">
            <a:solidFill>
              <a:srgbClr val="E6DF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1651000" y="6096000"/>
            <a:ext cx="177800" cy="177800"/>
          </a:xfrm>
          <a:prstGeom prst="ellipse">
            <a:avLst/>
          </a:prstGeom>
          <a:solidFill>
            <a:srgbClr val="221F1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270000" y="64516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5A52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robot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26000" y="3048000"/>
            <a:ext cx="279400" cy="279400"/>
          </a:xfrm>
          <a:prstGeom prst="ellipse">
            <a:avLst/>
          </a:prstGeom>
          <a:noFill/>
          <a:ln w="12700">
            <a:solidFill>
              <a:srgbClr val="D854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914900" y="3136900"/>
            <a:ext cx="101600" cy="101600"/>
          </a:xfrm>
          <a:prstGeom prst="ellipse">
            <a:avLst/>
          </a:prstGeom>
          <a:solidFill>
            <a:srgbClr val="D854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181600" y="3175000"/>
            <a:ext cx="76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B071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828800" y="3225800"/>
            <a:ext cx="3086100" cy="2870200"/>
          </a:xfrm>
          <a:prstGeom prst="straightConnector1">
            <a:avLst/>
          </a:prstGeom>
          <a:noFill/>
          <a:ln w="25400">
            <a:solidFill>
              <a:srgbClr val="D8542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2768600" y="42164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ρ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1828800" y="5334000"/>
            <a:ext cx="1524000" cy="762000"/>
          </a:xfrm>
          <a:prstGeom prst="straightConnector1">
            <a:avLst/>
          </a:prstGeom>
          <a:noFill/>
          <a:ln w="25400">
            <a:solidFill>
              <a:srgbClr val="221F1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2032000" y="6121400"/>
            <a:ext cx="114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5A52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heading θ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981200" y="5461000"/>
            <a:ext cx="635000" cy="635000"/>
          </a:xfrm>
          <a:prstGeom prst="arc">
            <a:avLst>
              <a:gd name="adj1" fmla="val 0"/>
              <a:gd name="adj2" fmla="val 5500000"/>
            </a:avLst>
          </a:prstGeom>
          <a:noFill/>
          <a:ln w="12700">
            <a:solidFill>
              <a:srgbClr val="221F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2692400" y="4851400"/>
            <a:ext cx="50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α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105400" y="2667000"/>
            <a:ext cx="0" cy="381000"/>
          </a:xfrm>
          <a:prstGeom prst="straightConnector1">
            <a:avLst/>
          </a:prstGeom>
          <a:noFill/>
          <a:ln w="25400">
            <a:solidFill>
              <a:srgbClr val="3E7B8C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5232400" y="2413000"/>
            <a:ext cx="88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3E7B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θ_goal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699000" y="2667000"/>
            <a:ext cx="508000" cy="508000"/>
          </a:xfrm>
          <a:prstGeom prst="arc">
            <a:avLst>
              <a:gd name="adj1" fmla="val 0"/>
              <a:gd name="adj2" fmla="val 4000000"/>
            </a:avLst>
          </a:prstGeom>
          <a:noFill/>
          <a:ln w="12700">
            <a:solidFill>
              <a:srgbClr val="3E7B8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4699000" y="2108200"/>
            <a:ext cx="50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E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β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6604000" y="1905000"/>
            <a:ext cx="8839200" cy="2235200"/>
          </a:xfrm>
          <a:prstGeom prst="roundRect">
            <a:avLst>
              <a:gd name="adj" fmla="val 8000"/>
            </a:avLst>
          </a:prstGeom>
          <a:solidFill>
            <a:srgbClr val="211E1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6858000" y="2006600"/>
            <a:ext cx="8331200" cy="208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E9E2D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dx = x_goal − x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E9E2D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 = y_goal − y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E874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ρ</a:t>
            </a:r>
            <a:r>
              <a:rPr lang="en-US" sz="1600" dirty="0">
                <a:solidFill>
                  <a:srgbClr val="E9E2D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= hypot(dx, dy)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E874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α</a:t>
            </a:r>
            <a:r>
              <a:rPr lang="en-US" sz="1600" dirty="0">
                <a:solidFill>
                  <a:srgbClr val="E9E2D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= wrap(atan2(dy, dx) − θ)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6FA9B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β</a:t>
            </a:r>
            <a:r>
              <a:rPr lang="en-US" sz="1600" dirty="0">
                <a:solidFill>
                  <a:srgbClr val="E9E2D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= wrap(θ_goal − atan2(dy, dx))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604000" y="4191000"/>
            <a:ext cx="8839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ρ</a:t>
            </a:r>
            <a:r>
              <a:rPr lang="en-US" sz="1800" dirty="0">
                <a:solidFill>
                  <a:srgbClr val="3D38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how far the goal point is </a:t>
            </a:r>
            <a:r>
              <a:rPr lang="en-US" sz="1800" dirty="0">
                <a:solidFill>
                  <a:srgbClr val="9A918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[m]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604000" y="4724400"/>
            <a:ext cx="8839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α</a:t>
            </a:r>
            <a:r>
              <a:rPr lang="en-US" sz="1800" dirty="0">
                <a:solidFill>
                  <a:srgbClr val="3D38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how much to turn to point </a:t>
            </a:r>
            <a:r>
              <a:rPr lang="en-US" sz="1800" i="1" dirty="0">
                <a:solidFill>
                  <a:srgbClr val="3D38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</a:t>
            </a:r>
            <a:r>
              <a:rPr lang="en-US" sz="1800" dirty="0">
                <a:solidFill>
                  <a:srgbClr val="3D38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goal </a:t>
            </a:r>
            <a:r>
              <a:rPr lang="en-US" sz="1800" dirty="0">
                <a:solidFill>
                  <a:srgbClr val="9A918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[rad]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604000" y="5257800"/>
            <a:ext cx="8839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E7B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β</a:t>
            </a:r>
            <a:r>
              <a:rPr lang="en-US" sz="1800" dirty="0">
                <a:solidFill>
                  <a:srgbClr val="3D38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extra turn so the </a:t>
            </a:r>
            <a:r>
              <a:rPr lang="en-US" sz="1800" i="1" dirty="0">
                <a:solidFill>
                  <a:srgbClr val="3D38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</a:t>
            </a:r>
            <a:r>
              <a:rPr lang="en-US" sz="1800" dirty="0">
                <a:solidFill>
                  <a:srgbClr val="3D38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heading equals θ_goal </a:t>
            </a:r>
            <a:r>
              <a:rPr lang="en-US" sz="1800" dirty="0">
                <a:solidFill>
                  <a:srgbClr val="9A918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[rad]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12800" y="4572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kern="0" spc="3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 / VELOCITY COMMANDS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12800" y="787400"/>
            <a:ext cx="889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3600" b="1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 law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462000" y="508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8B7E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Pose Controller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12800" y="1498600"/>
            <a:ext cx="14630400" cy="0"/>
          </a:xfrm>
          <a:prstGeom prst="straightConnector1">
            <a:avLst/>
          </a:prstGeom>
          <a:noFill/>
          <a:ln w="12700">
            <a:solidFill>
              <a:srgbClr val="E6DF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35000" y="1498600"/>
            <a:ext cx="812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5A52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x* y* θ*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016000" y="2032000"/>
            <a:ext cx="508000" cy="0"/>
          </a:xfrm>
          <a:prstGeom prst="straightConnector1">
            <a:avLst/>
          </a:prstGeom>
          <a:noFill/>
          <a:ln w="25400">
            <a:solidFill>
              <a:srgbClr val="221F1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1473200" y="1752600"/>
            <a:ext cx="431800" cy="431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21F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1473200" y="1752600"/>
            <a:ext cx="4318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19200" y="2209800"/>
            <a:ext cx="355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8B7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−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879600" y="2032000"/>
            <a:ext cx="635000" cy="0"/>
          </a:xfrm>
          <a:prstGeom prst="straightConnector1">
            <a:avLst/>
          </a:prstGeom>
          <a:noFill/>
          <a:ln w="25400">
            <a:solidFill>
              <a:srgbClr val="221F1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2514600" y="1803400"/>
            <a:ext cx="1524000" cy="50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C6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2514600" y="18288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Pose error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514600" y="2057400"/>
            <a:ext cx="152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B071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ρ · α · β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038600" y="2032000"/>
            <a:ext cx="635000" cy="0"/>
          </a:xfrm>
          <a:prstGeom prst="straightConnector1">
            <a:avLst/>
          </a:prstGeom>
          <a:noFill/>
          <a:ln w="25400">
            <a:solidFill>
              <a:srgbClr val="221F1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4673600" y="1803400"/>
            <a:ext cx="1524000" cy="508000"/>
          </a:xfrm>
          <a:prstGeom prst="roundRect">
            <a:avLst>
              <a:gd name="adj" fmla="val 10000"/>
            </a:avLst>
          </a:prstGeom>
          <a:solidFill>
            <a:srgbClr val="FBEEE7"/>
          </a:solidFill>
          <a:ln w="12700">
            <a:solidFill>
              <a:srgbClr val="D854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4673600" y="18288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 law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673600" y="2057400"/>
            <a:ext cx="152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 , ω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97600" y="2032000"/>
            <a:ext cx="635000" cy="0"/>
          </a:xfrm>
          <a:prstGeom prst="straightConnector1">
            <a:avLst/>
          </a:prstGeom>
          <a:noFill/>
          <a:ln w="25400">
            <a:solidFill>
              <a:srgbClr val="221F1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6832600" y="1803400"/>
            <a:ext cx="1651000" cy="508000"/>
          </a:xfrm>
          <a:prstGeom prst="roundRect">
            <a:avLst>
              <a:gd name="adj" fmla="val 10000"/>
            </a:avLst>
          </a:prstGeom>
          <a:solidFill>
            <a:srgbClr val="F3EEE4"/>
          </a:solidFill>
          <a:ln w="12700">
            <a:solidFill>
              <a:srgbClr val="CFC6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6832600" y="1828800"/>
            <a:ext cx="165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TurtleBot3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832600" y="2057400"/>
            <a:ext cx="1651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8B7E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unicycle plant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658100" y="2311400"/>
            <a:ext cx="0" cy="1016000"/>
          </a:xfrm>
          <a:prstGeom prst="straightConnector1">
            <a:avLst/>
          </a:prstGeom>
          <a:noFill/>
          <a:ln w="25400">
            <a:solidFill>
              <a:srgbClr val="221F1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1701800" y="3327400"/>
            <a:ext cx="5956300" cy="0"/>
          </a:xfrm>
          <a:prstGeom prst="straightConnector1">
            <a:avLst/>
          </a:prstGeom>
          <a:noFill/>
          <a:ln w="25400">
            <a:solidFill>
              <a:srgbClr val="221F1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1701800" y="2235200"/>
            <a:ext cx="0" cy="1092200"/>
          </a:xfrm>
          <a:prstGeom prst="straightConnector1">
            <a:avLst/>
          </a:prstGeom>
          <a:noFill/>
          <a:ln w="25400">
            <a:solidFill>
              <a:srgbClr val="221F1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2540000" y="3429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5A52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odometry feedback · x, y, θ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12800" y="3937000"/>
            <a:ext cx="8128000" cy="1016000"/>
          </a:xfrm>
          <a:prstGeom prst="roundRect">
            <a:avLst>
              <a:gd name="adj" fmla="val 8000"/>
            </a:avLst>
          </a:prstGeom>
          <a:solidFill>
            <a:srgbClr val="211E1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1066800" y="4038600"/>
            <a:ext cx="762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700" dirty="0">
                <a:solidFill>
                  <a:srgbClr val="E9E2D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 = </a:t>
            </a:r>
            <a:r>
              <a:rPr lang="en-US" sz="1700" dirty="0">
                <a:solidFill>
                  <a:srgbClr val="E874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k_ρ</a:t>
            </a:r>
            <a:r>
              <a:rPr lang="en-US" sz="1700" dirty="0">
                <a:solidFill>
                  <a:srgbClr val="E9E2D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· ρ · cos(α)            </a:t>
            </a:r>
            <a:r>
              <a:rPr lang="en-US" sz="1700" dirty="0">
                <a:solidFill>
                  <a:srgbClr val="8E86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linear  velocity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dirty="0">
                <a:solidFill>
                  <a:srgbClr val="E9E2D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ω = </a:t>
            </a:r>
            <a:r>
              <a:rPr lang="en-US" sz="1700" dirty="0">
                <a:solidFill>
                  <a:srgbClr val="E874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k_α</a:t>
            </a:r>
            <a:r>
              <a:rPr lang="en-US" sz="1700" dirty="0">
                <a:solidFill>
                  <a:srgbClr val="E9E2D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· α + </a:t>
            </a:r>
            <a:r>
              <a:rPr lang="en-US" sz="1700" dirty="0">
                <a:solidFill>
                  <a:srgbClr val="6FA9B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k_β</a:t>
            </a:r>
            <a:r>
              <a:rPr lang="en-US" sz="1700" dirty="0">
                <a:solidFill>
                  <a:srgbClr val="E9E2D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· β         </a:t>
            </a:r>
            <a:r>
              <a:rPr lang="en-US" sz="1700" dirty="0">
                <a:solidFill>
                  <a:srgbClr val="8E86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angular velocity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9398000" y="1778000"/>
            <a:ext cx="6045200" cy="1905000"/>
          </a:xfrm>
          <a:prstGeom prst="roundRect">
            <a:avLst>
              <a:gd name="adj" fmla="val 8000"/>
            </a:avLst>
          </a:prstGeom>
          <a:solidFill>
            <a:srgbClr val="FBEEE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9702800" y="1981200"/>
            <a:ext cx="543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C24A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it's continuous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9702800" y="2413000"/>
            <a:ext cx="5435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5A4D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</a:t>
            </a:r>
            <a:r>
              <a:rPr lang="en-US" sz="1600" dirty="0">
                <a:solidFill>
                  <a:srgbClr val="5A4D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r>
              <a:rPr lang="en-US" sz="1600" dirty="0">
                <a:solidFill>
                  <a:srgbClr val="5A4D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ω</a:t>
            </a:r>
            <a:r>
              <a:rPr lang="en-US" sz="1600" dirty="0">
                <a:solidFill>
                  <a:srgbClr val="5A4D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non-zero together → the robot </a:t>
            </a:r>
            <a:r>
              <a:rPr lang="en-US" sz="1600" b="1" dirty="0">
                <a:solidFill>
                  <a:srgbClr val="5A4D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curves onto the goal</a:t>
            </a:r>
            <a:r>
              <a:rPr lang="en-US" sz="1600" dirty="0">
                <a:solidFill>
                  <a:srgbClr val="5A4D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</a:t>
            </a:r>
            <a:r>
              <a:rPr lang="en-US" sz="1600" dirty="0">
                <a:solidFill>
                  <a:srgbClr val="5A4D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cos(α)</a:t>
            </a:r>
            <a:r>
              <a:rPr lang="en-US" sz="1600" dirty="0">
                <a:solidFill>
                  <a:srgbClr val="5A4D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trims forward speed when misaligned, and allows a gentle reverse if the goal is behind.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9398000" y="3937000"/>
            <a:ext cx="6045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kern="0" spc="300" dirty="0">
                <a:solidFill>
                  <a:srgbClr val="8B7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POST-PROCESSING FOR A REAL PLATFORM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9398000" y="4343400"/>
            <a:ext cx="604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</a:t>
            </a:r>
            <a:r>
              <a:rPr lang="en-US" sz="16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Saturate to TB3 limits — </a:t>
            </a:r>
            <a:r>
              <a:rPr lang="en-US" sz="1400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≤ 0.20 m/s, ≤ 1.6 rad/s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9398000" y="5029200"/>
            <a:ext cx="604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</a:t>
            </a:r>
            <a:r>
              <a:rPr lang="en-US" sz="16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Slew-rate (accel) cap so commands ramp → smooth, stable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9398000" y="5715000"/>
            <a:ext cx="6045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</a:t>
            </a:r>
            <a:r>
              <a:rPr lang="en-US" sz="16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Terminal settle — within 5 cm, hold position and finish yaw with </a:t>
            </a:r>
            <a:r>
              <a:rPr lang="en-US" sz="1400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ω = k_yaw · err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12800" y="4572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kern="0" spc="3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 / STABILITY &amp; TUNING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12800" y="787400"/>
            <a:ext cx="1016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3600" b="1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Stability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462000" y="508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8B7E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Pose Controller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12800" y="1498600"/>
            <a:ext cx="14630400" cy="0"/>
          </a:xfrm>
          <a:prstGeom prst="straightConnector1">
            <a:avLst/>
          </a:prstGeom>
          <a:noFill/>
          <a:ln w="12700">
            <a:solidFill>
              <a:srgbClr val="E6DF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812800" y="1778000"/>
            <a:ext cx="685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kern="0" spc="300" dirty="0">
                <a:solidFill>
                  <a:srgbClr val="8B7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LYAPUNOV CONDITIONS · SIEGWART 3.6.2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12800" y="2209800"/>
            <a:ext cx="1524000" cy="533400"/>
          </a:xfrm>
          <a:prstGeom prst="roundRect">
            <a:avLst>
              <a:gd name="adj" fmla="val 10000"/>
            </a:avLst>
          </a:prstGeom>
          <a:solidFill>
            <a:srgbClr val="F0E9D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812800" y="2209800"/>
            <a:ext cx="152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2B2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k_ρ &gt; 0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514600" y="2209800"/>
            <a:ext cx="1524000" cy="533400"/>
          </a:xfrm>
          <a:prstGeom prst="roundRect">
            <a:avLst>
              <a:gd name="adj" fmla="val 10000"/>
            </a:avLst>
          </a:prstGeom>
          <a:solidFill>
            <a:srgbClr val="F0E9D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2514600" y="2209800"/>
            <a:ext cx="152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2B2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k_β &lt; 0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216400" y="22098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F0E9D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4216400" y="2209800"/>
            <a:ext cx="228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2B2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k_α − k_ρ &gt; 0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12800" y="3048000"/>
            <a:ext cx="685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kern="0" spc="300" dirty="0">
                <a:solidFill>
                  <a:srgbClr val="8B7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GAINS USED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2800" y="3454400"/>
            <a:ext cx="6858000" cy="1143000"/>
          </a:xfrm>
          <a:prstGeom prst="roundRect">
            <a:avLst>
              <a:gd name="adj" fmla="val 8000"/>
            </a:avLst>
          </a:prstGeom>
          <a:solidFill>
            <a:srgbClr val="211E1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1066800" y="3581400"/>
            <a:ext cx="6350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E9E2D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k_ρ   = </a:t>
            </a:r>
            <a:r>
              <a:rPr lang="en-US" sz="1800" dirty="0">
                <a:solidFill>
                  <a:srgbClr val="E874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0.45</a:t>
            </a:r>
            <a:r>
              <a:rPr lang="en-US" sz="1800" dirty="0">
                <a:solidFill>
                  <a:srgbClr val="E9E2D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k_α   = </a:t>
            </a:r>
            <a:r>
              <a:rPr lang="en-US" sz="1800" dirty="0">
                <a:solidFill>
                  <a:srgbClr val="E874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1.20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E9E2D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k_β   = </a:t>
            </a:r>
            <a:r>
              <a:rPr lang="en-US" sz="1800" dirty="0">
                <a:solidFill>
                  <a:srgbClr val="E874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−0.45</a:t>
            </a:r>
            <a:r>
              <a:rPr lang="en-US" sz="1800" dirty="0">
                <a:solidFill>
                  <a:srgbClr val="E9E2D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k_yaw = </a:t>
            </a:r>
            <a:r>
              <a:rPr lang="en-US" sz="1800" dirty="0">
                <a:solidFill>
                  <a:srgbClr val="E874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1.50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382000" y="1778000"/>
            <a:ext cx="7061200" cy="3429000"/>
          </a:xfrm>
          <a:prstGeom prst="roundRect">
            <a:avLst>
              <a:gd name="adj" fmla="val 8000"/>
            </a:avLst>
          </a:prstGeom>
          <a:solidFill>
            <a:srgbClr val="F3EE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8737600" y="20828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Tolerances chosen inside spec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737600" y="25400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5A52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Stop at </a:t>
            </a:r>
            <a:r>
              <a:rPr lang="en-US" sz="1800" b="1" dirty="0">
                <a:solidFill>
                  <a:srgbClr val="5A52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cm</a:t>
            </a:r>
            <a:r>
              <a:rPr lang="en-US" sz="1800" dirty="0">
                <a:solidFill>
                  <a:srgbClr val="5A52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dirty="0">
                <a:solidFill>
                  <a:srgbClr val="9A918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(&lt; 5)</a:t>
            </a:r>
            <a:r>
              <a:rPr lang="en-US" sz="1800" dirty="0">
                <a:solidFill>
                  <a:srgbClr val="5A52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r>
              <a:rPr lang="en-US" sz="1800" b="1" dirty="0">
                <a:solidFill>
                  <a:srgbClr val="5A52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4°</a:t>
            </a:r>
            <a:r>
              <a:rPr lang="en-US" sz="1800" dirty="0">
                <a:solidFill>
                  <a:srgbClr val="5A52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dirty="0">
                <a:solidFill>
                  <a:srgbClr val="9A918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(&lt; 5)</a:t>
            </a:r>
            <a:r>
              <a:rPr lang="en-US" sz="1800" dirty="0">
                <a:solidFill>
                  <a:srgbClr val="5A52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held for </a:t>
            </a:r>
            <a:r>
              <a:rPr lang="en-US" sz="1800" b="1" dirty="0">
                <a:solidFill>
                  <a:srgbClr val="5A52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cycles</a:t>
            </a:r>
            <a:r>
              <a:rPr lang="en-US" sz="1800" dirty="0">
                <a:solidFill>
                  <a:srgbClr val="5A52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before declaring success — margin against jitter at the boundary.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737600" y="3556000"/>
            <a:ext cx="6350000" cy="0"/>
          </a:xfrm>
          <a:prstGeom prst="straightConnector1">
            <a:avLst/>
          </a:prstGeom>
          <a:noFill/>
          <a:ln w="12700">
            <a:solidFill>
              <a:srgbClr val="E0D8C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8737600" y="3810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recompile to retune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37600" y="4267200"/>
            <a:ext cx="635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5A52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gain and tolerance is a ROS 2 parameter in </a:t>
            </a:r>
            <a:r>
              <a:rPr lang="en-US" sz="1500" dirty="0">
                <a:solidFill>
                  <a:srgbClr val="5A52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config/pose_controller.yaml</a:t>
            </a:r>
            <a:r>
              <a:rPr lang="en-US" sz="1800" dirty="0">
                <a:solidFill>
                  <a:srgbClr val="5A52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12800" y="4572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kern="0" spc="3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 / RESULTS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12800" y="787400"/>
            <a:ext cx="1016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3600" b="1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three poses, within tolerance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462000" y="508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8B7E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Pose Controller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12800" y="1498600"/>
            <a:ext cx="14630400" cy="0"/>
          </a:xfrm>
          <a:prstGeom prst="straightConnector1">
            <a:avLst/>
          </a:prstGeom>
          <a:noFill/>
          <a:ln w="12700">
            <a:solidFill>
              <a:srgbClr val="E6DF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812800" y="1778000"/>
            <a:ext cx="0" cy="3810000"/>
          </a:xfrm>
          <a:prstGeom prst="straightConnector1">
            <a:avLst/>
          </a:prstGeom>
          <a:noFill/>
          <a:ln w="12700">
            <a:solidFill>
              <a:srgbClr val="EAE3D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1955800" y="1778000"/>
            <a:ext cx="0" cy="3810000"/>
          </a:xfrm>
          <a:prstGeom prst="straightConnector1">
            <a:avLst/>
          </a:prstGeom>
          <a:noFill/>
          <a:ln w="12700">
            <a:solidFill>
              <a:srgbClr val="EAE3D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4241800" y="1778000"/>
            <a:ext cx="0" cy="3810000"/>
          </a:xfrm>
          <a:prstGeom prst="straightConnector1">
            <a:avLst/>
          </a:prstGeom>
          <a:noFill/>
          <a:ln w="12700">
            <a:solidFill>
              <a:srgbClr val="EAE3D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6527800" y="1778000"/>
            <a:ext cx="0" cy="3810000"/>
          </a:xfrm>
          <a:prstGeom prst="straightConnector1">
            <a:avLst/>
          </a:prstGeom>
          <a:noFill/>
          <a:ln w="12700">
            <a:solidFill>
              <a:srgbClr val="EAE3D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812800" y="1778000"/>
            <a:ext cx="5715000" cy="0"/>
          </a:xfrm>
          <a:prstGeom prst="straightConnector1">
            <a:avLst/>
          </a:prstGeom>
          <a:noFill/>
          <a:ln w="12700">
            <a:solidFill>
              <a:srgbClr val="EAE3D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812800" y="2921000"/>
            <a:ext cx="5715000" cy="0"/>
          </a:xfrm>
          <a:prstGeom prst="straightConnector1">
            <a:avLst/>
          </a:prstGeom>
          <a:noFill/>
          <a:ln w="12700">
            <a:solidFill>
              <a:srgbClr val="EAE3D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812800" y="4064000"/>
            <a:ext cx="5715000" cy="0"/>
          </a:xfrm>
          <a:prstGeom prst="straightConnector1">
            <a:avLst/>
          </a:prstGeom>
          <a:noFill/>
          <a:ln w="12700">
            <a:solidFill>
              <a:srgbClr val="EAE3D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812800" y="5207000"/>
            <a:ext cx="5715000" cy="0"/>
          </a:xfrm>
          <a:prstGeom prst="straightConnector1">
            <a:avLst/>
          </a:prstGeom>
          <a:noFill/>
          <a:ln w="12700">
            <a:solidFill>
              <a:srgbClr val="EAE3D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812800" y="3683000"/>
            <a:ext cx="5715000" cy="0"/>
          </a:xfrm>
          <a:prstGeom prst="straightConnector1">
            <a:avLst/>
          </a:prstGeom>
          <a:noFill/>
          <a:ln w="25400">
            <a:solidFill>
              <a:srgbClr val="C9C0B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3670300" y="1778000"/>
            <a:ext cx="0" cy="3810000"/>
          </a:xfrm>
          <a:prstGeom prst="straightConnector1">
            <a:avLst/>
          </a:prstGeom>
          <a:noFill/>
          <a:ln w="25400">
            <a:solidFill>
              <a:srgbClr val="C9C0B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578600" y="34290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B7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733800" y="14986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B7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568700" y="3568700"/>
            <a:ext cx="203200" cy="203200"/>
          </a:xfrm>
          <a:prstGeom prst="ellipse">
            <a:avLst/>
          </a:prstGeom>
          <a:solidFill>
            <a:srgbClr val="221F1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3771900" y="3657600"/>
            <a:ext cx="381000" cy="0"/>
          </a:xfrm>
          <a:prstGeom prst="straightConnector1">
            <a:avLst/>
          </a:prstGeom>
          <a:noFill/>
          <a:ln w="25400">
            <a:solidFill>
              <a:srgbClr val="221F1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2794000" y="37846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5A52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670300" y="3048000"/>
            <a:ext cx="1651000" cy="635000"/>
          </a:xfrm>
          <a:prstGeom prst="curvedConnector3">
            <a:avLst/>
          </a:prstGeom>
          <a:noFill/>
          <a:ln w="25400">
            <a:solidFill>
              <a:srgbClr val="D8542A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5181600" y="2768600"/>
            <a:ext cx="254000" cy="254000"/>
          </a:xfrm>
          <a:prstGeom prst="ellipse">
            <a:avLst/>
          </a:prstGeom>
          <a:noFill/>
          <a:ln w="12700">
            <a:solidFill>
              <a:srgbClr val="D854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5257800" y="2844800"/>
            <a:ext cx="101600" cy="101600"/>
          </a:xfrm>
          <a:prstGeom prst="ellipse">
            <a:avLst/>
          </a:prstGeom>
          <a:solidFill>
            <a:srgbClr val="D854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5308600" y="2489200"/>
            <a:ext cx="0" cy="279400"/>
          </a:xfrm>
          <a:prstGeom prst="straightConnector1">
            <a:avLst/>
          </a:prstGeom>
          <a:noFill/>
          <a:ln w="25400">
            <a:solidFill>
              <a:srgbClr val="D8542A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5334000" y="3073400"/>
            <a:ext cx="1168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B071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1.0, 0.5, 45°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 flipH="1">
            <a:off x="2032000" y="2286000"/>
            <a:ext cx="1651000" cy="1397000"/>
          </a:xfrm>
          <a:prstGeom prst="curvedConnector3">
            <a:avLst/>
          </a:prstGeom>
          <a:noFill/>
          <a:ln w="25400">
            <a:solidFill>
              <a:srgbClr val="D8542A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1778000" y="2006600"/>
            <a:ext cx="254000" cy="254000"/>
          </a:xfrm>
          <a:prstGeom prst="ellipse">
            <a:avLst/>
          </a:prstGeom>
          <a:noFill/>
          <a:ln w="12700">
            <a:solidFill>
              <a:srgbClr val="D854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6"/>
          <p:cNvSpPr/>
          <p:nvPr/>
        </p:nvSpPr>
        <p:spPr>
          <a:xfrm>
            <a:off x="1854200" y="2082800"/>
            <a:ext cx="101600" cy="101600"/>
          </a:xfrm>
          <a:prstGeom prst="ellipse">
            <a:avLst/>
          </a:prstGeom>
          <a:solidFill>
            <a:srgbClr val="D854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7"/>
          <p:cNvSpPr/>
          <p:nvPr/>
        </p:nvSpPr>
        <p:spPr>
          <a:xfrm>
            <a:off x="1905000" y="1727200"/>
            <a:ext cx="0" cy="279400"/>
          </a:xfrm>
          <a:prstGeom prst="straightConnector1">
            <a:avLst/>
          </a:prstGeom>
          <a:noFill/>
          <a:ln w="25400">
            <a:solidFill>
              <a:srgbClr val="D8542A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254000" y="23114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B071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−1.0, 0.8, 90°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064000" y="3937000"/>
            <a:ext cx="1270000" cy="1016000"/>
          </a:xfrm>
          <a:prstGeom prst="curvedConnector3">
            <a:avLst/>
          </a:prstGeom>
          <a:noFill/>
          <a:ln w="25400">
            <a:solidFill>
              <a:srgbClr val="D8542A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>
            <a:off x="5181600" y="4800600"/>
            <a:ext cx="254000" cy="254000"/>
          </a:xfrm>
          <a:prstGeom prst="ellipse">
            <a:avLst/>
          </a:prstGeom>
          <a:noFill/>
          <a:ln w="12700">
            <a:solidFill>
              <a:srgbClr val="D854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1"/>
          <p:cNvSpPr/>
          <p:nvPr/>
        </p:nvSpPr>
        <p:spPr>
          <a:xfrm>
            <a:off x="5257800" y="4876800"/>
            <a:ext cx="101600" cy="101600"/>
          </a:xfrm>
          <a:prstGeom prst="ellipse">
            <a:avLst/>
          </a:prstGeom>
          <a:solidFill>
            <a:srgbClr val="D854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2"/>
          <p:cNvSpPr/>
          <p:nvPr/>
        </p:nvSpPr>
        <p:spPr>
          <a:xfrm>
            <a:off x="5308600" y="5080000"/>
            <a:ext cx="0" cy="279400"/>
          </a:xfrm>
          <a:prstGeom prst="straightConnector1">
            <a:avLst/>
          </a:prstGeom>
          <a:noFill/>
          <a:ln w="25400">
            <a:solidFill>
              <a:srgbClr val="D8542A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/>
          <p:nvPr/>
        </p:nvSpPr>
        <p:spPr>
          <a:xfrm>
            <a:off x="4673600" y="5638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B071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0.5, −0.5, −90°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12000" y="1778000"/>
          <a:ext cx="8331200" cy="2286000"/>
        </p:xfrm>
        <a:graphic>
          <a:graphicData uri="http://schemas.openxmlformats.org/drawingml/2006/table">
            <a:tbl>
              <a:tblPr/>
              <a:tblGrid>
                <a:gridCol w="2332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5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9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8B7E7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TARGET</a:t>
                      </a:r>
                      <a:endParaRPr lang="en-US" sz="15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8B7E7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FINAL</a:t>
                      </a:r>
                      <a:endParaRPr lang="en-US" sz="15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8B7E7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ERROR</a:t>
                      </a:r>
                      <a:endParaRPr lang="en-US" sz="15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21F1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1.0, 0.5, 45°</a:t>
                      </a:r>
                      <a:endParaRPr lang="en-US" sz="15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5A524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0.980, 0.480, 44.98</a:t>
                      </a:r>
                      <a:endParaRPr lang="en-US" sz="15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21F1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2.9 cm · 0.02°</a:t>
                      </a:r>
                      <a:endParaRPr lang="en-US" sz="15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3E8A52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✓</a:t>
                      </a:r>
                      <a:endParaRPr lang="en-US" sz="15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21F1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−1.0, 0.8, 90°</a:t>
                      </a:r>
                      <a:endParaRPr lang="en-US" sz="15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5A524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−1.010, 0.773, 90.08</a:t>
                      </a:r>
                      <a:endParaRPr lang="en-US" sz="15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21F1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2.9 cm · 0.08°</a:t>
                      </a:r>
                      <a:endParaRPr lang="en-US" sz="15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3E8A52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✓</a:t>
                      </a:r>
                      <a:endParaRPr lang="en-US" sz="15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21F1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0.5, −0.5, −90°</a:t>
                      </a:r>
                      <a:endParaRPr lang="en-US" sz="15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5A524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0.500, −0.469, −88.83</a:t>
                      </a:r>
                      <a:endParaRPr lang="en-US" sz="15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21F1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3.1 cm · 1.17°</a:t>
                      </a:r>
                      <a:endParaRPr lang="en-US" sz="15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3E8A52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✓</a:t>
                      </a:r>
                      <a:endParaRPr lang="en-US" sz="15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" name="Text 34"/>
          <p:cNvSpPr/>
          <p:nvPr/>
        </p:nvSpPr>
        <p:spPr>
          <a:xfrm>
            <a:off x="7112000" y="4318000"/>
            <a:ext cx="8331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</a:t>
            </a:r>
            <a:r>
              <a:rPr lang="en-US" sz="16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r>
              <a:rPr lang="en-US" sz="1600" b="1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unit tests</a:t>
            </a:r>
            <a:r>
              <a:rPr lang="en-US" sz="16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the control math — angle wrap, error geometry, saturation, slew.</a:t>
            </a:r>
            <a:endParaRPr lang="en-US" sz="1600" dirty="0"/>
          </a:p>
        </p:txBody>
      </p:sp>
      <p:sp>
        <p:nvSpPr>
          <p:cNvPr id="39" name="Text 35"/>
          <p:cNvSpPr/>
          <p:nvPr/>
        </p:nvSpPr>
        <p:spPr>
          <a:xfrm>
            <a:off x="7112000" y="4826000"/>
            <a:ext cx="8331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</a:t>
            </a:r>
            <a:r>
              <a:rPr lang="en-US" sz="16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Live Gazebo runs </a:t>
            </a:r>
            <a:r>
              <a:rPr lang="en-US" sz="1600" b="1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a headless kinematic sim</a:t>
            </a:r>
            <a:r>
              <a:rPr lang="en-US" sz="16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CI.</a:t>
            </a:r>
            <a:endParaRPr lang="en-US" sz="1600" dirty="0"/>
          </a:p>
        </p:txBody>
      </p:sp>
      <p:sp>
        <p:nvSpPr>
          <p:cNvPr id="40" name="Text 36"/>
          <p:cNvSpPr/>
          <p:nvPr/>
        </p:nvSpPr>
        <p:spPr>
          <a:xfrm>
            <a:off x="7112000" y="5334000"/>
            <a:ext cx="8331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</a:t>
            </a:r>
            <a:r>
              <a:rPr lang="en-US" sz="16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Logging </a:t>
            </a:r>
            <a:r>
              <a:rPr lang="en-US" sz="1400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/cmd_vel</a:t>
            </a:r>
            <a:r>
              <a:rPr lang="en-US" sz="16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confirms </a:t>
            </a:r>
            <a:r>
              <a:rPr lang="en-US" sz="1600" b="1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 and ω fire together</a:t>
            </a:r>
            <a:r>
              <a:rPr lang="en-US" sz="16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 rotate-drive-rotate.</a:t>
            </a:r>
            <a:endParaRPr lang="en-US" sz="1600" dirty="0"/>
          </a:p>
        </p:txBody>
      </p:sp>
      <p:sp>
        <p:nvSpPr>
          <p:cNvPr id="41" name="Text 37"/>
          <p:cNvSpPr/>
          <p:nvPr/>
        </p:nvSpPr>
        <p:spPr>
          <a:xfrm>
            <a:off x="7112000" y="5842000"/>
            <a:ext cx="8331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·</a:t>
            </a:r>
            <a:r>
              <a:rPr lang="en-US" sz="16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Repeatable from arbitrary start poses, sequential goals.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12800" y="4572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kern="0" spc="3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 / ASSUMPTIONS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12800" y="787400"/>
            <a:ext cx="1143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3600" dirty="0"/>
              <a:t>Assumptions</a:t>
            </a:r>
          </a:p>
        </p:txBody>
      </p:sp>
      <p:sp>
        <p:nvSpPr>
          <p:cNvPr id="5" name="Text 2"/>
          <p:cNvSpPr/>
          <p:nvPr/>
        </p:nvSpPr>
        <p:spPr>
          <a:xfrm>
            <a:off x="13462000" y="508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8B7E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Pose Controller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12800" y="1498600"/>
            <a:ext cx="14630400" cy="0"/>
          </a:xfrm>
          <a:prstGeom prst="straightConnector1">
            <a:avLst/>
          </a:prstGeom>
          <a:noFill/>
          <a:ln w="12700">
            <a:solidFill>
              <a:srgbClr val="E6DF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812800" y="19050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98600" y="1905000"/>
            <a:ext cx="599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9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Odometry is reliable and low-drift over the short distances commanded.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128000" y="19050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813800" y="1905000"/>
            <a:ext cx="6629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9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pose is given in the same </a:t>
            </a:r>
            <a:r>
              <a:rPr lang="en-US" sz="1700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odom</a:t>
            </a:r>
            <a:r>
              <a:rPr lang="en-US" sz="19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frame the robot starts in.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12800" y="30480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498600" y="3048000"/>
            <a:ext cx="599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9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Flat, obstacle-free environment — this is pose control, not navigation or avoidance.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128000" y="30480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813800" y="3048000"/>
            <a:ext cx="6629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9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Differential-drive kinematics (TB3 burger) — no holonomic / lateral motion.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12800" y="41910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498600" y="4191000"/>
            <a:ext cx="599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9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goal serviced at a time — the service is blocking by design.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8128000" y="41910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813800" y="4191000"/>
            <a:ext cx="6629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9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limits approximated as TB3 burger maxima — </a:t>
            </a:r>
            <a:r>
              <a:rPr lang="en-US" sz="1600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0.22 m/s, 2.84 rad/s</a:t>
            </a:r>
            <a:r>
              <a:rPr lang="en-US" sz="19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9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12800" y="4572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kern="0" spc="3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/ LIMITATIONS &amp; FUTURE WORK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12800" y="787400"/>
            <a:ext cx="1016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3600" b="1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Recommendation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462000" y="508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8B7E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Pose Controller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12800" y="1498600"/>
            <a:ext cx="14630400" cy="0"/>
          </a:xfrm>
          <a:prstGeom prst="straightConnector1">
            <a:avLst/>
          </a:prstGeom>
          <a:noFill/>
          <a:ln w="12700">
            <a:solidFill>
              <a:srgbClr val="E6DF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812800" y="1727200"/>
            <a:ext cx="685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kern="0" spc="300" dirty="0">
                <a:solidFill>
                  <a:srgbClr val="8B7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 TODAY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28000" y="1727200"/>
            <a:ext cx="7315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kern="0" spc="300" dirty="0">
                <a:solidFill>
                  <a:srgbClr val="D854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 WE TOOK IT FURTHER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12800" y="2082800"/>
            <a:ext cx="14630400" cy="0"/>
          </a:xfrm>
          <a:prstGeom prst="straightConnector1">
            <a:avLst/>
          </a:prstGeom>
          <a:noFill/>
          <a:ln w="12700">
            <a:solidFill>
              <a:srgbClr val="E6DF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812800" y="22860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obstacle avoidance — straight / curved approach only (by scope).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12800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F66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 a local planner or reactive avoidance on top of the pose target.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12800" y="3302000"/>
            <a:ext cx="14630400" cy="0"/>
          </a:xfrm>
          <a:prstGeom prst="straightConnector1">
            <a:avLst/>
          </a:prstGeom>
          <a:noFill/>
          <a:ln w="12700">
            <a:solidFill>
              <a:srgbClr val="EAE3D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812800" y="35052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to odometry drift over longer runs.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128000" y="3505200"/>
            <a:ext cx="731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F66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Fuse with AMCL / EKF to track a </a:t>
            </a:r>
            <a:r>
              <a:rPr lang="en-US" sz="1600" dirty="0">
                <a:solidFill>
                  <a:srgbClr val="6F66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map</a:t>
            </a:r>
            <a:r>
              <a:rPr lang="en-US" sz="1800" dirty="0">
                <a:solidFill>
                  <a:srgbClr val="6F66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frame.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12800" y="4241800"/>
            <a:ext cx="14630400" cy="0"/>
          </a:xfrm>
          <a:prstGeom prst="straightConnector1">
            <a:avLst/>
          </a:prstGeom>
          <a:noFill/>
          <a:ln w="12700">
            <a:solidFill>
              <a:srgbClr val="EAE3D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812800" y="44450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Proportional law (terminal P on yaw); no integral term → small steady bias possible.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128000" y="4445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F66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Mitigated by the settle window; add I / feed-forward if needed.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812800" y="5461000"/>
            <a:ext cx="14630400" cy="0"/>
          </a:xfrm>
          <a:prstGeom prst="straightConnector1">
            <a:avLst/>
          </a:prstGeom>
          <a:noFill/>
          <a:ln w="12700">
            <a:solidFill>
              <a:srgbClr val="EAE3D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812800" y="56642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Fixed gains; </a:t>
            </a:r>
            <a:r>
              <a:rPr lang="en-US" sz="1600" dirty="0">
                <a:solidFill>
                  <a:srgbClr val="221F1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cos(α)</a:t>
            </a:r>
            <a:r>
              <a:rPr lang="en-US" sz="1800" dirty="0">
                <a:solidFill>
                  <a:srgbClr val="221F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reverse is intentionally gentle.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128000" y="56642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F66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Velocity-profile / trajectory for long goals; a dedicated backward-driving mode.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16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12800" y="508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kern="0" spc="300" dirty="0">
                <a:solidFill>
                  <a:srgbClr val="8B7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 / SUMMARY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12800" y="1778000"/>
            <a:ext cx="1270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812800" y="4064000"/>
            <a:ext cx="711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E874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r>
              <a:rPr lang="en-US" sz="2000" dirty="0">
                <a:solidFill>
                  <a:srgbClr val="D8D1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Continuous polar controller — drives and rotates simultaneously.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128000" y="4064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E874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r>
              <a:rPr lang="en-US" sz="2000" dirty="0">
                <a:solidFill>
                  <a:srgbClr val="D8D1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Correct error computation — </a:t>
            </a:r>
            <a:r>
              <a:rPr lang="en-US" sz="2000" dirty="0">
                <a:solidFill>
                  <a:srgbClr val="F3EE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ρ / α / β</a:t>
            </a:r>
            <a:r>
              <a:rPr lang="en-US" sz="2000" dirty="0">
                <a:solidFill>
                  <a:srgbClr val="D8D1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proper angle wrapping.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12800" y="5130800"/>
            <a:ext cx="711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E874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r>
              <a:rPr lang="en-US" sz="2000" dirty="0">
                <a:solidFill>
                  <a:srgbClr val="D8D1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Clean ROS 2 structure — service + topics, parameterised, unit-tested.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128000" y="5130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E874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r>
              <a:rPr lang="en-US" sz="2000" dirty="0">
                <a:solidFill>
                  <a:srgbClr val="D8D1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Meets ±5 cm / ±5° on all three demo poses — no Nav2.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12800" y="6858000"/>
            <a:ext cx="14630400" cy="0"/>
          </a:xfrm>
          <a:prstGeom prst="straightConnector1">
            <a:avLst/>
          </a:prstGeom>
          <a:noFill/>
          <a:ln w="12700">
            <a:solidFill>
              <a:srgbClr val="39322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812800" y="7112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B7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Repository &amp; supporting materials submitted by email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160000" y="7112000"/>
            <a:ext cx="5283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B7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 — happy to dig into any part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1888</Words>
  <Application>Microsoft Office PowerPoint</Application>
  <PresentationFormat>Custom</PresentationFormat>
  <Paragraphs>209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Quattrocento Sans</vt:lpstr>
      <vt:lpstr>Liter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TurtleBot3 Pose Controller</dc:title>
  <dc:subject>TurtleBot3 Pose Controller</dc:subject>
  <dc:creator>Kimi</dc:creator>
  <cp:lastModifiedBy>Chamsidine Abdel Kader</cp:lastModifiedBy>
  <cp:revision>2</cp:revision>
  <dcterms:created xsi:type="dcterms:W3CDTF">2026-06-24T06:07:17Z</dcterms:created>
  <dcterms:modified xsi:type="dcterms:W3CDTF">2026-06-24T06:11:18Z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{"Label":"TurtleBot3 Pose Controller","ContentProducer":"001191110108MACG2KBH8F10000","ProduceID":"19ef82f7-32a2-8d09-8000-0000d5e4029b","ReservedCode1":"","ContentPropagator":"001191110108MACG2KBH8F20000","PropagateID":"19ef82d7-6d22-8890-8000-0941696e3cd3","ReservedCode2":""}</vt:lpwstr>
  </property>
</Properties>
</file>