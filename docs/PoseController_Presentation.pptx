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800" b="1">
                <a:solidFill>
                  <a:srgbClr val="FFFFFF"/>
                </a:solidFill>
              </a:defRPr>
            </a:pPr>
            <a:r>
              <a:t>TurtleBot3 Pose Controller</a:t>
            </a:r>
          </a:p>
          <a:p>
            <a:pPr>
              <a:defRPr sz="2400">
                <a:solidFill>
                  <a:srgbClr val="BFD3EC"/>
                </a:solidFill>
              </a:defRPr>
            </a:pPr>
            <a:r>
              <a:t>Continuous closed-loop pose control with ROS2 (Python)</a:t>
            </a:r>
          </a:p>
          <a:p>
            <a:pPr>
              <a:defRPr sz="1800">
                <a:solidFill>
                  <a:srgbClr val="9FB8D8"/>
                </a:solidFill>
              </a:defRPr>
            </a:pPr>
            <a:r>
              <a:t>Robotics Software Engineer — Technical Assessment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/>
          <a:lstStyle/>
          <a:p>
            <a:pPr algn="ctr">
              <a:defRPr sz="3000" b="1">
                <a:solidFill>
                  <a:srgbClr val="FFFFFF"/>
                </a:solidFill>
              </a:defRPr>
            </a:pPr>
            <a:r>
              <a:t>Objective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 b="1">
                <a:solidFill>
                  <a:srgbClr val="1F3A5F"/>
                </a:solidFill>
              </a:defRPr>
            </a:pPr>
            <a:r>
              <a:t>Move a TurtleBot3 to a commanded pose (x, y, yaw) via a ROS2 service</a:t>
            </a:r>
          </a:p>
          <a:p>
            <a:pPr lvl="1">
              <a:spcAft>
                <a:spcPts val="600"/>
              </a:spcAft>
              <a:defRPr sz="1800">
                <a:solidFill>
                  <a:srgbClr val="444444"/>
                </a:solidFill>
              </a:defRPr>
            </a:pPr>
            <a:r>
              <a:t>Closed-loop control using odometry feedback</a:t>
            </a:r>
          </a:p>
          <a:p>
            <a:pPr lvl="1">
              <a:spcAft>
                <a:spcPts val="600"/>
              </a:spcAft>
              <a:defRPr sz="1800">
                <a:solidFill>
                  <a:srgbClr val="444444"/>
                </a:solidFill>
              </a:defRPr>
            </a:pPr>
            <a:r>
              <a:t>Velocity commands on geometry_msgs/Twist (/cmd_vel)</a:t>
            </a:r>
          </a:p>
          <a:p>
            <a:pPr>
              <a:spcAft>
                <a:spcPts val="600"/>
              </a:spcAft>
              <a:defRPr sz="2000" b="1">
                <a:solidFill>
                  <a:srgbClr val="1F3A5F"/>
                </a:solidFill>
              </a:defRPr>
            </a:pPr>
            <a:r>
              <a:t>Key requirement: continuous motion</a:t>
            </a:r>
          </a:p>
          <a:p>
            <a:pPr lvl="1">
              <a:spcAft>
                <a:spcPts val="600"/>
              </a:spcAft>
              <a:defRPr sz="1800">
                <a:solidFill>
                  <a:srgbClr val="444444"/>
                </a:solidFill>
              </a:defRPr>
            </a:pPr>
            <a:r>
              <a:t>Drive and rotate simultaneously — a smooth curve onto the goal</a:t>
            </a:r>
          </a:p>
          <a:p>
            <a:pPr lvl="1">
              <a:spcAft>
                <a:spcPts val="600"/>
              </a:spcAft>
              <a:defRPr sz="1800">
                <a:solidFill>
                  <a:srgbClr val="444444"/>
                </a:solidFill>
              </a:defRPr>
            </a:pPr>
            <a:r>
              <a:t>Avoid the discrete rotate -&gt; drive -&gt; rotate pattern</a:t>
            </a:r>
          </a:p>
          <a:p>
            <a:pPr>
              <a:spcAft>
                <a:spcPts val="600"/>
              </a:spcAft>
              <a:defRPr sz="2000" b="1">
                <a:solidFill>
                  <a:srgbClr val="1F3A5F"/>
                </a:solidFill>
              </a:defRPr>
            </a:pPr>
            <a:r>
              <a:t>Accuracy target</a:t>
            </a:r>
          </a:p>
          <a:p>
            <a:pPr lvl="1">
              <a:spcAft>
                <a:spcPts val="600"/>
              </a:spcAft>
              <a:defRPr sz="1800">
                <a:solidFill>
                  <a:srgbClr val="444444"/>
                </a:solidFill>
              </a:defRPr>
            </a:pPr>
            <a:r>
              <a:t>Stop within +/- 5 cm position and +/- 5 deg orientation</a:t>
            </a:r>
          </a:p>
          <a:p>
            <a:pPr>
              <a:spcAft>
                <a:spcPts val="600"/>
              </a:spcAft>
              <a:defRPr sz="2000" b="1">
                <a:solidFill>
                  <a:srgbClr val="1F3A5F"/>
                </a:solidFill>
              </a:defRPr>
            </a:pPr>
            <a:r>
              <a:t>Constraint: no Nav2 / high-level stacks — control law implemented from scratch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/>
          <a:lstStyle/>
          <a:p>
            <a:pPr algn="ctr">
              <a:defRPr sz="3000" b="1">
                <a:solidFill>
                  <a:srgbClr val="FFFFFF"/>
                </a:solidFill>
              </a:defRPr>
            </a:pPr>
            <a:r>
              <a:t>System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 b="1">
                <a:solidFill>
                  <a:srgbClr val="1F3A5F"/>
                </a:solidFill>
              </a:defRPr>
            </a:pPr>
            <a:r>
              <a:t>Two packages</a:t>
            </a:r>
          </a:p>
          <a:p>
            <a:pPr lvl="1">
              <a:spcAft>
                <a:spcPts val="600"/>
              </a:spcAft>
              <a:defRPr sz="1800">
                <a:solidFill>
                  <a:srgbClr val="444444"/>
                </a:solidFill>
              </a:defRPr>
            </a:pPr>
            <a:r>
              <a:t>pose_controller_interfaces (ament_cmake) — MoveToPose.srv</a:t>
            </a:r>
          </a:p>
          <a:p>
            <a:pPr lvl="1">
              <a:spcAft>
                <a:spcPts val="600"/>
              </a:spcAft>
              <a:defRPr sz="1800">
                <a:solidFill>
                  <a:srgbClr val="444444"/>
                </a:solidFill>
              </a:defRPr>
            </a:pPr>
            <a:r>
              <a:t>pose_controller (ament_python) — node, control math, launch, tests</a:t>
            </a:r>
          </a:p>
          <a:p>
            <a:pPr>
              <a:spcAft>
                <a:spcPts val="600"/>
              </a:spcAft>
              <a:defRPr sz="2000" b="1">
                <a:solidFill>
                  <a:srgbClr val="1F3A5F"/>
                </a:solidFill>
              </a:defRPr>
            </a:pPr>
            <a:r>
              <a:t>Data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91840"/>
            <a:ext cx="10972800" cy="1463040"/>
          </a:xfrm>
          <a:prstGeom prst="rect">
            <a:avLst/>
          </a:prstGeom>
          <a:solidFill>
            <a:srgbClr val="F2F5FA"/>
          </a:solidFill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1F3A5F"/>
                </a:solidFill>
                <a:latin typeface="Consolas"/>
              </a:defRPr>
            </a:pPr>
            <a:r>
              <a:t>/odom (nav_msgs/Odometry)  -&gt;  [ pose_controller ]  -&gt;  /cmd_vel (geometry_msgs/Twist)</a:t>
            </a:r>
          </a:p>
          <a:p>
            <a:pPr>
              <a:defRPr sz="1400">
                <a:solidFill>
                  <a:srgbClr val="1F3A5F"/>
                </a:solidFill>
                <a:latin typeface="Consolas"/>
              </a:defRPr>
            </a:pPr>
            <a:r>
              <a:t>                                      ^</a:t>
            </a:r>
          </a:p>
          <a:p>
            <a:pPr>
              <a:defRPr sz="1400">
                <a:solidFill>
                  <a:srgbClr val="1F3A5F"/>
                </a:solidFill>
                <a:latin typeface="Consolas"/>
              </a:defRPr>
            </a:pPr>
            <a:r>
              <a:t>        client  --/move_to_pose (MoveToPose)--&gt;  (blocking; returns on arrival)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84632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 b="1">
                <a:solidFill>
                  <a:srgbClr val="1F3A5F"/>
                </a:solidFill>
              </a:defRPr>
            </a:pPr>
            <a:r>
              <a:t>Concurrency: MultiThreadedExecutor</a:t>
            </a:r>
          </a:p>
          <a:p>
            <a:pPr lvl="1">
              <a:spcAft>
                <a:spcPts val="600"/>
              </a:spcAft>
              <a:defRPr sz="1800">
                <a:solidFill>
                  <a:srgbClr val="444444"/>
                </a:solidFill>
              </a:defRPr>
            </a:pPr>
            <a:r>
              <a:t>Control loop runs on a 20 Hz timer while the service call blocks until the goal is reached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/>
          <a:lstStyle/>
          <a:p>
            <a:pPr algn="ctr">
              <a:defRPr sz="3000" b="1">
                <a:solidFill>
                  <a:srgbClr val="FFFFFF"/>
                </a:solidFill>
              </a:defRPr>
            </a:pPr>
            <a:r>
              <a:t>Coordinate Frames &amp; Conventions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 b="1">
                <a:solidFill>
                  <a:srgbClr val="1F3A5F"/>
                </a:solidFill>
              </a:defRPr>
            </a:pPr>
            <a:r>
              <a:t>Standard ROS REP-103</a:t>
            </a:r>
          </a:p>
          <a:p>
            <a:pPr lvl="1">
              <a:spcAft>
                <a:spcPts val="600"/>
              </a:spcAft>
              <a:defRPr sz="1800">
                <a:solidFill>
                  <a:srgbClr val="444444"/>
                </a:solidFill>
              </a:defRPr>
            </a:pPr>
            <a:r>
              <a:t>x forward, y left, z up (right-handed); yaw positive counter-clockwise about +z</a:t>
            </a:r>
          </a:p>
          <a:p>
            <a:pPr>
              <a:spcAft>
                <a:spcPts val="600"/>
              </a:spcAft>
              <a:defRPr sz="2000" b="1">
                <a:solidFill>
                  <a:srgbClr val="1F3A5F"/>
                </a:solidFill>
              </a:defRPr>
            </a:pPr>
            <a:r>
              <a:t>Robot spawns at the origin of the odom frame: x=0, y=0, yaw=0</a:t>
            </a:r>
          </a:p>
          <a:p>
            <a:pPr>
              <a:spcAft>
                <a:spcPts val="600"/>
              </a:spcAft>
              <a:defRPr sz="2000" b="1">
                <a:solidFill>
                  <a:srgbClr val="1F3A5F"/>
                </a:solidFill>
              </a:defRPr>
            </a:pPr>
            <a:r>
              <a:t>Feedback: odometry pose is in the odom frame; target pose is interpreted in the same frame</a:t>
            </a:r>
          </a:p>
          <a:p>
            <a:pPr>
              <a:spcAft>
                <a:spcPts val="600"/>
              </a:spcAft>
              <a:defRPr sz="2000" b="1">
                <a:solidFill>
                  <a:srgbClr val="1F3A5F"/>
                </a:solidFill>
              </a:defRPr>
            </a:pPr>
            <a:r>
              <a:t>Orientation handling</a:t>
            </a:r>
          </a:p>
          <a:p>
            <a:pPr lvl="1">
              <a:spcAft>
                <a:spcPts val="600"/>
              </a:spcAft>
              <a:defRPr sz="1800">
                <a:solidFill>
                  <a:srgbClr val="444444"/>
                </a:solidFill>
              </a:defRPr>
            </a:pPr>
            <a:r>
              <a:t>Odometry orientation is a quaternion -&gt; reduced to yaw for a planar robot</a:t>
            </a:r>
          </a:p>
          <a:p>
            <a:pPr lvl="1">
              <a:spcAft>
                <a:spcPts val="600"/>
              </a:spcAft>
              <a:defRPr sz="1800">
                <a:solidFill>
                  <a:srgbClr val="444444"/>
                </a:solidFill>
              </a:defRPr>
            </a:pPr>
            <a:r>
              <a:t>Angles wrapped to (-pi, pi] so errors never take the long way round +/-180 deg</a:t>
            </a:r>
          </a:p>
          <a:p>
            <a:pPr>
              <a:spcAft>
                <a:spcPts val="600"/>
              </a:spcAft>
              <a:defRPr sz="2000" b="1">
                <a:solidFill>
                  <a:srgbClr val="1F3A5F"/>
                </a:solidFill>
              </a:defRPr>
            </a:pPr>
            <a:r>
              <a:t>Differential-drive (unicycle) model: only v (linear x) and w (angular z) are commandable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/>
          <a:lstStyle/>
          <a:p>
            <a:pPr algn="ctr">
              <a:defRPr sz="3000" b="1">
                <a:solidFill>
                  <a:srgbClr val="FFFFFF"/>
                </a:solidFill>
              </a:defRPr>
            </a:pPr>
            <a:r>
              <a:t>How Pose Errors Are Computed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 b="1">
                <a:solidFill>
                  <a:srgbClr val="1F3A5F"/>
                </a:solidFill>
              </a:defRPr>
            </a:pPr>
            <a:r>
              <a:t>Errors expressed in polar coordinates relative to the goal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515600" cy="2194560"/>
          </a:xfrm>
          <a:prstGeom prst="rect">
            <a:avLst/>
          </a:prstGeom>
          <a:solidFill>
            <a:srgbClr val="F2F5FA"/>
          </a:solidFill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1F3A5F"/>
                </a:solidFill>
                <a:latin typeface="Consolas"/>
              </a:defRPr>
            </a:pPr>
            <a:r>
              <a:t>dx = x_goal - x        dy = y_goal - y</a:t>
            </a:r>
          </a:p>
          <a:p>
            <a:pPr>
              <a:defRPr sz="1600">
                <a:solidFill>
                  <a:srgbClr val="1F3A5F"/>
                </a:solidFill>
                <a:latin typeface="Consolas"/>
              </a:defRPr>
            </a:pPr>
          </a:p>
          <a:p>
            <a:pPr>
              <a:defRPr sz="1600">
                <a:solidFill>
                  <a:srgbClr val="1F3A5F"/>
                </a:solidFill>
                <a:latin typeface="Consolas"/>
              </a:defRPr>
            </a:pPr>
            <a:r>
              <a:t>rho   = hypot(dx, dy)                      # position error  [m]</a:t>
            </a:r>
          </a:p>
          <a:p>
            <a:pPr>
              <a:defRPr sz="1600">
                <a:solidFill>
                  <a:srgbClr val="1F3A5F"/>
                </a:solidFill>
                <a:latin typeface="Consolas"/>
              </a:defRPr>
            </a:pPr>
            <a:r>
              <a:t>alpha = wrap(atan2(dy, dx) - theta)        # heading error   [rad]</a:t>
            </a:r>
          </a:p>
          <a:p>
            <a:pPr>
              <a:defRPr sz="1600">
                <a:solidFill>
                  <a:srgbClr val="1F3A5F"/>
                </a:solidFill>
                <a:latin typeface="Consolas"/>
              </a:defRPr>
            </a:pPr>
            <a:r>
              <a:t>beta  = wrap(theta_goal - atan2(dy, dx))   # orientation err [rad]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89120"/>
            <a:ext cx="109728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 b="1">
                <a:solidFill>
                  <a:srgbClr val="1F3A5F"/>
                </a:solidFill>
              </a:defRPr>
            </a:pPr>
            <a:r>
              <a:t>rho  — how far the goal point is</a:t>
            </a:r>
          </a:p>
          <a:p>
            <a:pPr>
              <a:spcAft>
                <a:spcPts val="600"/>
              </a:spcAft>
              <a:defRPr sz="2000" b="1">
                <a:solidFill>
                  <a:srgbClr val="1F3A5F"/>
                </a:solidFill>
              </a:defRPr>
            </a:pPr>
            <a:r>
              <a:t>alpha — how much to turn to point AT the goal</a:t>
            </a:r>
          </a:p>
          <a:p>
            <a:pPr>
              <a:spcAft>
                <a:spcPts val="600"/>
              </a:spcAft>
              <a:defRPr sz="2000" b="1">
                <a:solidFill>
                  <a:srgbClr val="1F3A5F"/>
                </a:solidFill>
              </a:defRPr>
            </a:pPr>
            <a:r>
              <a:t>beta  — additional turn so the FINAL heading equals theta_goal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/>
          <a:lstStyle/>
          <a:p>
            <a:pPr algn="ctr">
              <a:defRPr sz="3000" b="1">
                <a:solidFill>
                  <a:srgbClr val="FFFFFF"/>
                </a:solidFill>
              </a:defRPr>
            </a:pPr>
            <a:r>
              <a:t>How Velocity Commands Are Generated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 b="1">
                <a:solidFill>
                  <a:srgbClr val="1F3A5F"/>
                </a:solidFill>
              </a:defRPr>
            </a:pPr>
            <a:r>
              <a:t>A single continuous control law (Siegwart polar pose controller):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10515600" cy="1188720"/>
          </a:xfrm>
          <a:prstGeom prst="rect">
            <a:avLst/>
          </a:prstGeom>
          <a:solidFill>
            <a:srgbClr val="F2F5FA"/>
          </a:solidFill>
        </p:spPr>
        <p:txBody>
          <a:bodyPr wrap="square">
            <a:spAutoFit/>
          </a:bodyPr>
          <a:lstStyle/>
          <a:p>
            <a:pPr>
              <a:defRPr sz="1700">
                <a:solidFill>
                  <a:srgbClr val="1F3A5F"/>
                </a:solidFill>
                <a:latin typeface="Consolas"/>
              </a:defRPr>
            </a:pPr>
            <a:r>
              <a:t>v = k_rho * rho * cos(alpha)            # linear  velocity</a:t>
            </a:r>
          </a:p>
          <a:p>
            <a:pPr>
              <a:defRPr sz="1700">
                <a:solidFill>
                  <a:srgbClr val="1F3A5F"/>
                </a:solidFill>
                <a:latin typeface="Consolas"/>
              </a:defRPr>
            </a:pPr>
            <a:r>
              <a:t>w = k_alpha * alpha + k_beta * beta     # angular velocity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108960"/>
            <a:ext cx="109728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1">
                <a:solidFill>
                  <a:srgbClr val="1F3A5F"/>
                </a:solidFill>
              </a:defRPr>
            </a:pPr>
            <a:r>
              <a:t>Why this gives continuous motion</a:t>
            </a:r>
          </a:p>
          <a:p>
            <a:pPr lvl="1">
              <a:spcAft>
                <a:spcPts val="600"/>
              </a:spcAft>
              <a:defRPr sz="1600">
                <a:solidFill>
                  <a:srgbClr val="444444"/>
                </a:solidFill>
              </a:defRPr>
            </a:pPr>
            <a:r>
              <a:t>v and w are non-zero together -&gt; the robot curves onto the goal (no rotate-then-drive)</a:t>
            </a:r>
          </a:p>
          <a:p>
            <a:pPr lvl="1">
              <a:spcAft>
                <a:spcPts val="600"/>
              </a:spcAft>
              <a:defRPr sz="1600">
                <a:solidFill>
                  <a:srgbClr val="444444"/>
                </a:solidFill>
              </a:defRPr>
            </a:pPr>
            <a:r>
              <a:t>cos(alpha) trims forward speed when mis-aligned; allows gentle reverse if goal is behind</a:t>
            </a:r>
          </a:p>
          <a:p>
            <a:pPr>
              <a:spcAft>
                <a:spcPts val="600"/>
              </a:spcAft>
              <a:defRPr sz="1800" b="1">
                <a:solidFill>
                  <a:srgbClr val="1F3A5F"/>
                </a:solidFill>
              </a:defRPr>
            </a:pPr>
            <a:r>
              <a:t>Post-processing for a real platform</a:t>
            </a:r>
          </a:p>
          <a:p>
            <a:pPr lvl="1">
              <a:spcAft>
                <a:spcPts val="600"/>
              </a:spcAft>
              <a:defRPr sz="1600">
                <a:solidFill>
                  <a:srgbClr val="444444"/>
                </a:solidFill>
              </a:defRPr>
            </a:pPr>
            <a:r>
              <a:t>Saturate to TB3 limits (&lt;= 0.20 m/s, &lt;= 1.6 rad/s)</a:t>
            </a:r>
          </a:p>
          <a:p>
            <a:pPr lvl="1">
              <a:spcAft>
                <a:spcPts val="600"/>
              </a:spcAft>
              <a:defRPr sz="1600">
                <a:solidFill>
                  <a:srgbClr val="444444"/>
                </a:solidFill>
              </a:defRPr>
            </a:pPr>
            <a:r>
              <a:t>Slew-rate limit (accel cap) so commands ramp -&gt; smooth, stable motion</a:t>
            </a:r>
          </a:p>
          <a:p>
            <a:pPr>
              <a:spcAft>
                <a:spcPts val="600"/>
              </a:spcAft>
              <a:defRPr sz="1800" b="1">
                <a:solidFill>
                  <a:srgbClr val="1F3A5F"/>
                </a:solidFill>
              </a:defRPr>
            </a:pPr>
            <a:r>
              <a:t>Terminal settle: within 5 cm, hold position and finish yaw with w = k_yaw * yaw_error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/>
          <a:lstStyle/>
          <a:p>
            <a:pPr algn="ctr">
              <a:defRPr sz="3000" b="1">
                <a:solidFill>
                  <a:srgbClr val="FFFFFF"/>
                </a:solidFill>
              </a:defRPr>
            </a:pPr>
            <a:r>
              <a:t>Stability &amp; Tuning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 b="1">
                <a:solidFill>
                  <a:srgbClr val="1F3A5F"/>
                </a:solidFill>
              </a:defRPr>
            </a:pPr>
            <a:r>
              <a:t>Lyapunov stability conditions (Siegwart 3.6.2)</a:t>
            </a:r>
          </a:p>
          <a:p>
            <a:pPr lvl="1">
              <a:spcAft>
                <a:spcPts val="600"/>
              </a:spcAft>
              <a:defRPr sz="1800">
                <a:solidFill>
                  <a:srgbClr val="444444"/>
                </a:solidFill>
              </a:defRPr>
            </a:pPr>
            <a:r>
              <a:t>k_rho &gt; 0,   k_beta &lt; 0,   k_alpha - k_rho &gt; 0</a:t>
            </a:r>
          </a:p>
          <a:p>
            <a:pPr>
              <a:spcAft>
                <a:spcPts val="600"/>
              </a:spcAft>
              <a:defRPr sz="2000" b="1">
                <a:solidFill>
                  <a:srgbClr val="1F3A5F"/>
                </a:solidFill>
              </a:defRPr>
            </a:pPr>
            <a:r>
              <a:t>Gains used</a:t>
            </a:r>
          </a:p>
          <a:p>
            <a:pPr lvl="1">
              <a:spcAft>
                <a:spcPts val="600"/>
              </a:spcAft>
              <a:defRPr sz="1800">
                <a:solidFill>
                  <a:srgbClr val="444444"/>
                </a:solidFill>
              </a:defRPr>
            </a:pPr>
            <a:r>
              <a:t>k_rho = 0.45,  k_alpha = 1.2,  k_beta = -0.45,  k_yaw = 1.5</a:t>
            </a:r>
          </a:p>
          <a:p>
            <a:pPr>
              <a:spcAft>
                <a:spcPts val="600"/>
              </a:spcAft>
              <a:defRPr sz="2000" b="1">
                <a:solidFill>
                  <a:srgbClr val="1F3A5F"/>
                </a:solidFill>
              </a:defRPr>
            </a:pPr>
            <a:r>
              <a:t>Tolerances chosen inside spec for margin</a:t>
            </a:r>
          </a:p>
          <a:p>
            <a:pPr lvl="1">
              <a:spcAft>
                <a:spcPts val="600"/>
              </a:spcAft>
              <a:defRPr sz="1800">
                <a:solidFill>
                  <a:srgbClr val="444444"/>
                </a:solidFill>
              </a:defRPr>
            </a:pPr>
            <a:r>
              <a:t>position 4 cm (&lt; 5 cm), orientation 4 deg (&lt; 5 deg), held for 5 cycles before success</a:t>
            </a:r>
          </a:p>
          <a:p>
            <a:pPr>
              <a:spcAft>
                <a:spcPts val="600"/>
              </a:spcAft>
              <a:defRPr sz="2000" b="1">
                <a:solidFill>
                  <a:srgbClr val="1F3A5F"/>
                </a:solidFill>
              </a:defRPr>
            </a:pPr>
            <a:r>
              <a:t>Everything is a ROS2 parameter (config/pose_controller.yaml) — no recompile to retune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/>
          <a:lstStyle/>
          <a:p>
            <a:pPr algn="ctr">
              <a:defRPr sz="3000" b="1">
                <a:solidFill>
                  <a:srgbClr val="FFFFFF"/>
                </a:solidFill>
              </a:defRPr>
            </a:pPr>
            <a: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 b="1">
                <a:solidFill>
                  <a:srgbClr val="1F3A5F"/>
                </a:solidFill>
              </a:defRPr>
            </a:pPr>
            <a:r>
              <a:t>Live TurtleBot3 in Gazebo Harmonic — each pose within tolerance: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10972800" cy="1645920"/>
          </a:xfrm>
          <a:prstGeom prst="rect">
            <a:avLst/>
          </a:prstGeom>
          <a:solidFill>
            <a:srgbClr val="F2F5FA"/>
          </a:solidFill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1F3A5F"/>
                </a:solidFill>
                <a:latin typeface="Consolas"/>
              </a:defRPr>
            </a:pPr>
            <a:r>
              <a:t>target ( 1.0,  0.5,  45)  -&gt;  final ( 0.980,  0.480, 44.98)  err 2.9 cm, 0.02 deg  OK</a:t>
            </a:r>
          </a:p>
          <a:p>
            <a:pPr>
              <a:defRPr sz="1300">
                <a:solidFill>
                  <a:srgbClr val="1F3A5F"/>
                </a:solidFill>
                <a:latin typeface="Consolas"/>
              </a:defRPr>
            </a:pPr>
            <a:r>
              <a:t>target (-1.0,  0.8,  90)  -&gt;  final (-1.010,  0.773, 90.08)  err 2.9 cm, 0.08 deg  OK</a:t>
            </a:r>
          </a:p>
          <a:p>
            <a:pPr>
              <a:defRPr sz="1300">
                <a:solidFill>
                  <a:srgbClr val="1F3A5F"/>
                </a:solidFill>
                <a:latin typeface="Consolas"/>
              </a:defRPr>
            </a:pPr>
            <a:r>
              <a:t>target ( 0.5, -0.5, -90)  -&gt;  final ( 0.500, -0.469,-88.83)  err 3.1 cm, 1.17 deg  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5760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 b="1">
                <a:solidFill>
                  <a:srgbClr val="1F3A5F"/>
                </a:solidFill>
              </a:defRPr>
            </a:pPr>
            <a:r>
              <a:t>Verified multiple ways</a:t>
            </a:r>
          </a:p>
          <a:p>
            <a:pPr lvl="1">
              <a:spcAft>
                <a:spcPts val="600"/>
              </a:spcAft>
              <a:defRPr sz="1800">
                <a:solidFill>
                  <a:srgbClr val="444444"/>
                </a:solidFill>
              </a:defRPr>
            </a:pPr>
            <a:r>
              <a:t>11 unit tests on the control math (angle wrap, error geometry, saturation, slew)</a:t>
            </a:r>
          </a:p>
          <a:p>
            <a:pPr lvl="1">
              <a:spcAft>
                <a:spcPts val="600"/>
              </a:spcAft>
              <a:defRPr sz="1800">
                <a:solidFill>
                  <a:srgbClr val="444444"/>
                </a:solidFill>
              </a:defRPr>
            </a:pPr>
            <a:r>
              <a:t>Live Gazebo runs + a headless kinematic sim for CI</a:t>
            </a:r>
          </a:p>
          <a:p>
            <a:pPr lvl="1">
              <a:spcAft>
                <a:spcPts val="600"/>
              </a:spcAft>
              <a:defRPr sz="1800">
                <a:solidFill>
                  <a:srgbClr val="444444"/>
                </a:solidFill>
              </a:defRPr>
            </a:pPr>
            <a:r>
              <a:t>Simultaneous drive+turn confirmed by logging /cmd_vel (no rotate-drive-rotate)</a:t>
            </a:r>
          </a:p>
          <a:p>
            <a:pPr>
              <a:spcAft>
                <a:spcPts val="600"/>
              </a:spcAft>
              <a:defRPr sz="2000" b="1">
                <a:solidFill>
                  <a:srgbClr val="1F3A5F"/>
                </a:solidFill>
              </a:defRPr>
            </a:pPr>
            <a:r>
              <a:t>Repeatable: sequential goals succeed from arbitrary start poses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/>
          <a:lstStyle/>
          <a:p>
            <a:pPr algn="ctr">
              <a:defRPr sz="3000" b="1">
                <a:solidFill>
                  <a:srgbClr val="FFFFFF"/>
                </a:solidFill>
              </a:defRPr>
            </a:pPr>
            <a:r>
              <a:t>Assumptions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 b="1">
                <a:solidFill>
                  <a:srgbClr val="1F3A5F"/>
                </a:solidFill>
              </a:defRPr>
            </a:pPr>
            <a:r>
              <a:t>Odometry is reliable and low-drift over the short distances commanded</a:t>
            </a:r>
          </a:p>
          <a:p>
            <a:pPr>
              <a:spcAft>
                <a:spcPts val="600"/>
              </a:spcAft>
              <a:defRPr sz="2000" b="1">
                <a:solidFill>
                  <a:srgbClr val="1F3A5F"/>
                </a:solidFill>
              </a:defRPr>
            </a:pPr>
            <a:r>
              <a:t>Target pose is given in the same (odom) frame the robot starts in</a:t>
            </a:r>
          </a:p>
          <a:p>
            <a:pPr>
              <a:spcAft>
                <a:spcPts val="600"/>
              </a:spcAft>
              <a:defRPr sz="2000" b="1">
                <a:solidFill>
                  <a:srgbClr val="1F3A5F"/>
                </a:solidFill>
              </a:defRPr>
            </a:pPr>
            <a:r>
              <a:t>Flat, obstacle-free environment — this is pose control, not navigation/avoidance</a:t>
            </a:r>
          </a:p>
          <a:p>
            <a:pPr>
              <a:spcAft>
                <a:spcPts val="600"/>
              </a:spcAft>
              <a:defRPr sz="2000" b="1">
                <a:solidFill>
                  <a:srgbClr val="1F3A5F"/>
                </a:solidFill>
              </a:defRPr>
            </a:pPr>
            <a:r>
              <a:t>Differential-drive kinematics (TB3 burger): no holonomic / lateral motion</a:t>
            </a:r>
          </a:p>
          <a:p>
            <a:pPr>
              <a:spcAft>
                <a:spcPts val="600"/>
              </a:spcAft>
              <a:defRPr sz="2000" b="1">
                <a:solidFill>
                  <a:srgbClr val="1F3A5F"/>
                </a:solidFill>
              </a:defRPr>
            </a:pPr>
            <a:r>
              <a:t>One goal serviced at a time (the service is blocking by design)</a:t>
            </a:r>
          </a:p>
          <a:p>
            <a:pPr>
              <a:spcAft>
                <a:spcPts val="600"/>
              </a:spcAft>
              <a:defRPr sz="2000" b="1">
                <a:solidFill>
                  <a:srgbClr val="1F3A5F"/>
                </a:solidFill>
              </a:defRPr>
            </a:pPr>
            <a:r>
              <a:t>Platform limits approximated as TB3 burger maxima (0.22 m/s, 2.84 rad/s)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/>
          <a:lstStyle/>
          <a:p>
            <a:pPr algn="ctr">
              <a:defRPr sz="3000" b="1">
                <a:solidFill>
                  <a:srgbClr val="FFFFFF"/>
                </a:solidFill>
              </a:defRPr>
            </a:pPr>
            <a:r>
              <a:t>Known Limitations &amp; Future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 b="1">
                <a:solidFill>
                  <a:srgbClr val="1F3A5F"/>
                </a:solidFill>
              </a:defRPr>
            </a:pPr>
            <a:r>
              <a:t>No obstacle avoidance — straight-line/curved approach only (by scope)</a:t>
            </a:r>
          </a:p>
          <a:p>
            <a:pPr>
              <a:spcAft>
                <a:spcPts val="600"/>
              </a:spcAft>
              <a:defRPr sz="2000" b="1">
                <a:solidFill>
                  <a:srgbClr val="1F3A5F"/>
                </a:solidFill>
              </a:defRPr>
            </a:pPr>
            <a:r>
              <a:t>Open to odometry drift; a real deployment would fuse with AMCL/EKF for a map frame</a:t>
            </a:r>
          </a:p>
          <a:p>
            <a:pPr>
              <a:spcAft>
                <a:spcPts val="600"/>
              </a:spcAft>
              <a:defRPr sz="2000" b="1">
                <a:solidFill>
                  <a:srgbClr val="1F3A5F"/>
                </a:solidFill>
              </a:defRPr>
            </a:pPr>
            <a:r>
              <a:t>Proportional law (with terminal P on yaw); no integral term -&gt; small steady bias possible</a:t>
            </a:r>
          </a:p>
          <a:p>
            <a:pPr lvl="1">
              <a:spcAft>
                <a:spcPts val="600"/>
              </a:spcAft>
              <a:defRPr sz="1800">
                <a:solidFill>
                  <a:srgbClr val="444444"/>
                </a:solidFill>
              </a:defRPr>
            </a:pPr>
            <a:r>
              <a:t>Mitigated by the settle window; could add I/feed-forward if needed</a:t>
            </a:r>
          </a:p>
          <a:p>
            <a:pPr>
              <a:spcAft>
                <a:spcPts val="600"/>
              </a:spcAft>
              <a:defRPr sz="2000" b="1">
                <a:solidFill>
                  <a:srgbClr val="1F3A5F"/>
                </a:solidFill>
              </a:defRPr>
            </a:pPr>
            <a:r>
              <a:t>Gains are fixed; very long goals could benefit from a trajectory / velocity profile</a:t>
            </a:r>
          </a:p>
          <a:p>
            <a:pPr>
              <a:spcAft>
                <a:spcPts val="600"/>
              </a:spcAft>
              <a:defRPr sz="2000" b="1">
                <a:solidFill>
                  <a:srgbClr val="1F3A5F"/>
                </a:solidFill>
              </a:defRPr>
            </a:pPr>
            <a:r>
              <a:t>cos(alpha) reverse behaviour is gentle; a dedicated backward-driving mode could be faster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/>
          <a:lstStyle/>
          <a:p>
            <a:pPr algn="ctr">
              <a:defRPr sz="3000" b="1">
                <a:solidFill>
                  <a:srgbClr val="FFFFFF"/>
                </a:solidFill>
              </a:defRPr>
            </a:pPr>
            <a:r>
              <a:t>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 b="1">
                <a:solidFill>
                  <a:srgbClr val="1F3A5F"/>
                </a:solidFill>
              </a:defRPr>
            </a:pPr>
            <a:r>
              <a:t>Continuous polar pose controller — drives and rotates simultaneously</a:t>
            </a:r>
          </a:p>
          <a:p>
            <a:pPr>
              <a:spcAft>
                <a:spcPts val="600"/>
              </a:spcAft>
              <a:defRPr sz="2000" b="1">
                <a:solidFill>
                  <a:srgbClr val="1F3A5F"/>
                </a:solidFill>
              </a:defRPr>
            </a:pPr>
            <a:r>
              <a:t>Correct pose-error computation (rho / alpha / beta) with proper angle wrapping</a:t>
            </a:r>
          </a:p>
          <a:p>
            <a:pPr>
              <a:spcAft>
                <a:spcPts val="600"/>
              </a:spcAft>
              <a:defRPr sz="2000" b="1">
                <a:solidFill>
                  <a:srgbClr val="1F3A5F"/>
                </a:solidFill>
              </a:defRPr>
            </a:pPr>
            <a:r>
              <a:t>Clean ROS2 structure: service + topics, parameterised, unit-tested</a:t>
            </a:r>
          </a:p>
          <a:p>
            <a:pPr>
              <a:spcAft>
                <a:spcPts val="600"/>
              </a:spcAft>
              <a:defRPr sz="2000" b="1">
                <a:solidFill>
                  <a:srgbClr val="1F3A5F"/>
                </a:solidFill>
              </a:defRPr>
            </a:pPr>
            <a:r>
              <a:t>Meets the +/- 5 cm / +/- 5 deg tolerance on all three demo poses</a:t>
            </a:r>
          </a:p>
          <a:p>
            <a:pPr>
              <a:spcAft>
                <a:spcPts val="600"/>
              </a:spcAft>
              <a:defRPr sz="2000" b="1">
                <a:solidFill>
                  <a:srgbClr val="1F3A5F"/>
                </a:solidFill>
              </a:defRPr>
            </a:pPr>
            <a:r>
              <a:t>No Nav2 — control logic implemented from first principles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